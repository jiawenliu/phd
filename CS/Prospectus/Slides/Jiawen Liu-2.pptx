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366" r:id="rId4"/>
    <p:sldId id="361" r:id="rId5"/>
    <p:sldId id="362" r:id="rId6"/>
    <p:sldId id="363" r:id="rId7"/>
    <p:sldId id="364" r:id="rId8"/>
    <p:sldId id="365" r:id="rId9"/>
    <p:sldId id="297" r:id="rId10"/>
    <p:sldId id="298" r:id="rId11"/>
    <p:sldId id="299" r:id="rId12"/>
    <p:sldId id="300" r:id="rId13"/>
    <p:sldId id="301" r:id="rId14"/>
    <p:sldId id="317" r:id="rId15"/>
    <p:sldId id="320" r:id="rId16"/>
    <p:sldId id="321" r:id="rId17"/>
    <p:sldId id="322" r:id="rId18"/>
    <p:sldId id="302" r:id="rId19"/>
    <p:sldId id="294" r:id="rId20"/>
    <p:sldId id="269" r:id="rId21"/>
    <p:sldId id="324" r:id="rId22"/>
    <p:sldId id="310" r:id="rId23"/>
    <p:sldId id="307" r:id="rId24"/>
    <p:sldId id="345" r:id="rId25"/>
    <p:sldId id="340" r:id="rId26"/>
    <p:sldId id="341" r:id="rId27"/>
    <p:sldId id="346" r:id="rId28"/>
    <p:sldId id="308" r:id="rId29"/>
    <p:sldId id="367" r:id="rId30"/>
    <p:sldId id="342" r:id="rId31"/>
    <p:sldId id="328" r:id="rId32"/>
    <p:sldId id="347" r:id="rId33"/>
    <p:sldId id="329" r:id="rId34"/>
    <p:sldId id="330" r:id="rId35"/>
    <p:sldId id="331" r:id="rId36"/>
    <p:sldId id="332" r:id="rId37"/>
    <p:sldId id="333" r:id="rId38"/>
    <p:sldId id="348" r:id="rId39"/>
    <p:sldId id="334" r:id="rId40"/>
    <p:sldId id="335" r:id="rId41"/>
    <p:sldId id="336" r:id="rId42"/>
    <p:sldId id="337" r:id="rId43"/>
    <p:sldId id="339" r:id="rId44"/>
    <p:sldId id="351" r:id="rId45"/>
    <p:sldId id="352" r:id="rId46"/>
    <p:sldId id="311" r:id="rId47"/>
    <p:sldId id="312" r:id="rId48"/>
    <p:sldId id="353" r:id="rId49"/>
    <p:sldId id="354" r:id="rId50"/>
    <p:sldId id="356" r:id="rId51"/>
    <p:sldId id="357" r:id="rId52"/>
    <p:sldId id="358" r:id="rId53"/>
    <p:sldId id="359" r:id="rId54"/>
    <p:sldId id="360" r:id="rId55"/>
    <p:sldId id="350" r:id="rId56"/>
    <p:sldId id="315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Osaka" panose="020B0600000000000000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5EB996-E574-AE44-AC20-FB250DB00564}">
          <p14:sldIdLst>
            <p14:sldId id="256"/>
            <p14:sldId id="257"/>
            <p14:sldId id="366"/>
            <p14:sldId id="361"/>
            <p14:sldId id="362"/>
            <p14:sldId id="363"/>
            <p14:sldId id="364"/>
            <p14:sldId id="365"/>
            <p14:sldId id="297"/>
            <p14:sldId id="298"/>
            <p14:sldId id="299"/>
            <p14:sldId id="300"/>
            <p14:sldId id="301"/>
            <p14:sldId id="317"/>
            <p14:sldId id="320"/>
            <p14:sldId id="321"/>
            <p14:sldId id="322"/>
            <p14:sldId id="302"/>
            <p14:sldId id="294"/>
            <p14:sldId id="269"/>
            <p14:sldId id="324"/>
            <p14:sldId id="310"/>
            <p14:sldId id="307"/>
            <p14:sldId id="345"/>
            <p14:sldId id="340"/>
            <p14:sldId id="341"/>
            <p14:sldId id="346"/>
            <p14:sldId id="308"/>
            <p14:sldId id="367"/>
            <p14:sldId id="342"/>
            <p14:sldId id="328"/>
            <p14:sldId id="347"/>
            <p14:sldId id="329"/>
            <p14:sldId id="330"/>
            <p14:sldId id="331"/>
            <p14:sldId id="332"/>
            <p14:sldId id="333"/>
            <p14:sldId id="348"/>
            <p14:sldId id="334"/>
            <p14:sldId id="335"/>
            <p14:sldId id="336"/>
            <p14:sldId id="337"/>
            <p14:sldId id="339"/>
            <p14:sldId id="351"/>
            <p14:sldId id="352"/>
            <p14:sldId id="311"/>
            <p14:sldId id="312"/>
            <p14:sldId id="353"/>
            <p14:sldId id="354"/>
            <p14:sldId id="356"/>
            <p14:sldId id="357"/>
            <p14:sldId id="358"/>
            <p14:sldId id="359"/>
            <p14:sldId id="360"/>
            <p14:sldId id="350"/>
            <p14:sldId id="315"/>
          </p14:sldIdLst>
        </p14:section>
        <p14:section name="Untitled Section" id="{065AD779-EAD1-8241-927D-CBF020A2A62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FDF"/>
    <a:srgbClr val="F0FAE8"/>
    <a:srgbClr val="E3F0DC"/>
    <a:srgbClr val="EAFFD7"/>
    <a:srgbClr val="E8F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12" autoAdjust="0"/>
    <p:restoredTop sz="91289" autoAdjust="0"/>
  </p:normalViewPr>
  <p:slideViewPr>
    <p:cSldViewPr>
      <p:cViewPr varScale="1">
        <p:scale>
          <a:sx n="115" d="100"/>
          <a:sy n="115" d="100"/>
        </p:scale>
        <p:origin x="76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44" d="100"/>
          <a:sy n="144" d="100"/>
        </p:scale>
        <p:origin x="-2328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F354AAE-1910-1A41-A44A-30092A184A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759FBDB-3B8D-3449-8304-CC546AD2EC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1C74BFF-857E-7D49-BF19-8D2F6E79C80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684DAD9E-49F4-2042-B614-7FD250929C8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fld id="{05A8C75B-E160-4749-A508-7EBC2C4B2A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772015F-4F4E-5B4B-9115-DF98AA27E6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827DB26-5482-7D49-8160-E65F936C03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891E4DE-318C-3944-A2D8-D8963E8769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39A25E9-F90E-8E46-9AFA-782FC90C77A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D95978D-4BD4-7F46-83FA-40EDBC26FE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85267024-06B7-EF4B-92A3-7701DFBD6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fld id="{C99353E9-CAB9-CC42-95EB-22C092AC8E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Osaka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2893C9B-C294-0347-B0CD-9CAC501B59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fld id="{A4FE6649-3960-004F-B5B1-D9E042D32A0B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D6D4E15-6D27-BB4F-9278-1ABEB58705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F7A70B9-3F26-7544-BEEA-1B5CA8B7E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Osaka" panose="020B0600000000000000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7FB2556D-8373-7741-940F-D807B8722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fld id="{73CDE65A-249C-9848-B4C1-DADEAA06277A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B40DF64E-C7E8-9740-8296-D14402C74D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5014F06-31BB-BB4A-81E9-2D19F9BF6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Osaka" panose="020B0600000000000000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9353E9-CAB9-CC42-95EB-22C092AC8EE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2108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9353E9-CAB9-CC42-95EB-22C092AC8EE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601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9353E9-CAB9-CC42-95EB-22C092AC8EE1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43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>
            <a:extLst>
              <a:ext uri="{FF2B5EF4-FFF2-40B4-BE49-F238E27FC236}">
                <a16:creationId xmlns:a16="http://schemas.microsoft.com/office/drawing/2014/main" id="{14D91DD1-2B80-C24B-A403-EFDA073456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118225"/>
            <a:ext cx="9683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5">
            <a:extLst>
              <a:ext uri="{FF2B5EF4-FFF2-40B4-BE49-F238E27FC236}">
                <a16:creationId xmlns:a16="http://schemas.microsoft.com/office/drawing/2014/main" id="{A0700EA1-1BD5-6545-92D2-E9B4D31E10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6200"/>
            <a:ext cx="9144000" cy="289560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06533DFD-D7AC-E142-A759-B0F04E03A7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" y="6172200"/>
            <a:ext cx="46640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r>
              <a:rPr lang="en-US" altLang="en-US" sz="1200" dirty="0">
                <a:latin typeface="Arial Bold" charset="0"/>
              </a:rPr>
              <a:t>Boston University</a:t>
            </a:r>
            <a:r>
              <a:rPr lang="en-US" altLang="en-US" sz="1200" dirty="0"/>
              <a:t> Department of Computer Science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200400"/>
            <a:ext cx="77724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>
                <a:solidFill>
                  <a:srgbClr val="CCCCCC"/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03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48B3124-B980-1641-B2E1-CEA8C13609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14893FAB-4B11-3A4A-9977-F14FB4B9437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58366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7C49B2-4A80-D44E-B53B-EA1522F8A3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39881E21-FD4D-764A-86F6-DAE0112148F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EE53B03D-0207-7E41-BC69-6876B56F30FB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11505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8862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862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341B70-23A9-AB44-8055-FBD20B666AB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656AD483-FD32-794C-BFF6-1996396884B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8AE685CB-9B2F-6C42-983C-4C8E76949B17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23369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FBB4B93-6144-4A44-9E1E-6F7CCCB76E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14CDC6E4-3FCC-B144-9777-6FED4691656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42787F3E-B1EE-684F-ADB5-510F4F9F8099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418185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B34658-CD6E-0648-B6C7-061435E560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4206C39F-35B6-674C-9DE3-60CC4E45411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59582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C4D0058-F25D-0948-9881-C264C2D8BD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75ED96AD-7FA1-D849-8911-EA38356FD00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BA1C2D52-6700-8447-842A-EB1B8A249D13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069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AB4132-CE9F-834C-AB5D-F985C5302E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8D6C48AD-158F-A24C-95D3-AE2CD6DF44C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14852DAB-2B47-2B4E-A847-1B8560A8642B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65524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7130A2-2D33-D84D-863F-B8AD71556D7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5A25325D-D123-4841-B173-7B1EFBF5A4B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6292C1B7-9C34-F141-9D0F-63F998543D57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1814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86739DF-F384-D64D-8608-2999F7E4188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477000" y="730250"/>
            <a:ext cx="2303463" cy="4984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9pPr>
          </a:lstStyle>
          <a:p>
            <a:pPr>
              <a:defRPr/>
            </a:pPr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2"/>
          </p:nvPr>
        </p:nvSpPr>
        <p:spPr>
          <a:xfrm>
            <a:off x="609599" y="729512"/>
            <a:ext cx="5638801" cy="4985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733A214-AAE0-C84C-BF6F-382EA7C2ACF5}"/>
              </a:ext>
            </a:extLst>
          </p:cNvPr>
          <p:cNvSpPr>
            <a:spLocks noGrp="1" noChangeArrowheads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707012A-D059-F749-A848-2F3991024ACB}"/>
              </a:ext>
            </a:extLst>
          </p:cNvPr>
          <p:cNvSpPr>
            <a:spLocks noGrp="1" noChangeArrowheads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824E2098-3C7C-024A-9140-B56A98F9165A}" type="slidenum">
              <a:rPr lang="en-US" altLang="en-US"/>
              <a:pPr>
                <a:defRPr/>
              </a:pPr>
              <a:t>‹#›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09139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>
            <a:extLst>
              <a:ext uri="{FF2B5EF4-FFF2-40B4-BE49-F238E27FC236}">
                <a16:creationId xmlns:a16="http://schemas.microsoft.com/office/drawing/2014/main" id="{F548DA9A-C3AE-6547-A489-AD956ECAE5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42863"/>
            <a:ext cx="9144000" cy="347663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3E7E4641-7D64-C542-A84D-4DA421A0E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7620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E3D50049-03F9-314F-BD1D-F738CFD71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7924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90CFC3-BD65-F940-81DC-B3EBE96524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0"/>
            <a:ext cx="51054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ea typeface="Osaka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1030" name="Text Box 12">
            <a:extLst>
              <a:ext uri="{FF2B5EF4-FFF2-40B4-BE49-F238E27FC236}">
                <a16:creationId xmlns:a16="http://schemas.microsoft.com/office/drawing/2014/main" id="{BA3C30DD-5420-FF44-9D1C-419456AFDA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600" y="1524000"/>
            <a:ext cx="7924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Boston University</a:t>
            </a:r>
            <a:r>
              <a:rPr lang="en-US" alt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Slideshow Title Goes Here</a:t>
            </a:r>
          </a:p>
        </p:txBody>
      </p:sp>
      <p:pic>
        <p:nvPicPr>
          <p:cNvPr id="1031" name="Picture 20">
            <a:extLst>
              <a:ext uri="{FF2B5EF4-FFF2-40B4-BE49-F238E27FC236}">
                <a16:creationId xmlns:a16="http://schemas.microsoft.com/office/drawing/2014/main" id="{A30CAA7F-EF70-744A-995A-5C2E0651F9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118225"/>
            <a:ext cx="9683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2" name="Rectangle 18">
            <a:extLst>
              <a:ext uri="{FF2B5EF4-FFF2-40B4-BE49-F238E27FC236}">
                <a16:creationId xmlns:a16="http://schemas.microsoft.com/office/drawing/2014/main" id="{79B33AB9-7B80-8241-8130-6FA4ED67BC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01000" y="76200"/>
            <a:ext cx="10668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30000">
                <a:solidFill>
                  <a:srgbClr val="CCCCCC"/>
                </a:solidFill>
                <a:latin typeface="Times New Roman" panose="02020603050405020304" pitchFamily="18" charset="0"/>
                <a:ea typeface="Osaka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2/3/08  </a:t>
            </a:r>
            <a:fld id="{440EFAE8-FF19-DB48-8835-D0305F4BA6AB}" type="slidenum">
              <a:rPr lang="en-US" altLang="en-US" smtClean="0"/>
              <a:pPr>
                <a:defRPr/>
              </a:pPr>
              <a:t>‹#›</a:t>
            </a:fld>
            <a:endParaRPr lang="en-US" altLang="en-US" baseline="0"/>
          </a:p>
        </p:txBody>
      </p:sp>
      <p:sp>
        <p:nvSpPr>
          <p:cNvPr id="1033" name="Rectangle 23">
            <a:extLst>
              <a:ext uri="{FF2B5EF4-FFF2-40B4-BE49-F238E27FC236}">
                <a16:creationId xmlns:a16="http://schemas.microsoft.com/office/drawing/2014/main" id="{687A15B9-8D54-034E-8530-0BE98E7DB7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" y="6172200"/>
            <a:ext cx="46640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r>
              <a:rPr lang="en-US" altLang="en-US" sz="1200" dirty="0">
                <a:latin typeface="Arial Bold" charset="0"/>
              </a:rPr>
              <a:t>Boston University</a:t>
            </a:r>
            <a:r>
              <a:rPr lang="en-US" altLang="en-US" sz="1200" dirty="0"/>
              <a:t> Department of Computer Science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3" r:id="rId10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85DA840E-35F1-D44E-9B58-FDF139ECFD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err="1"/>
              <a:t>Jiawen</a:t>
            </a:r>
            <a:r>
              <a:rPr lang="en-US" altLang="en-US" dirty="0"/>
              <a:t> Liu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Advised by: Marco </a:t>
            </a:r>
            <a:r>
              <a:rPr lang="en-US" altLang="en-US" dirty="0" err="1"/>
              <a:t>Gaboardi</a:t>
            </a:r>
            <a:endParaRPr lang="en-US" altLang="en-US" dirty="0"/>
          </a:p>
        </p:txBody>
      </p:sp>
      <p:sp>
        <p:nvSpPr>
          <p:cNvPr id="14337" name="Rectangle 2">
            <a:extLst>
              <a:ext uri="{FF2B5EF4-FFF2-40B4-BE49-F238E27FC236}">
                <a16:creationId xmlns:a16="http://schemas.microsoft.com/office/drawing/2014/main" id="{30E048BF-7E65-E741-A54A-430D6D1705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10602F65-E0B4-E44C-87BD-8329B672E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444CC5D-AD32-C64D-B137-38472124C7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4038600"/>
          </a:xfrm>
        </p:spPr>
        <p:txBody>
          <a:bodyPr/>
          <a:lstStyle/>
          <a:p>
            <a:r>
              <a:rPr lang="en-US" dirty="0"/>
              <a:t>Quantitative Reachability Properties </a:t>
            </a:r>
          </a:p>
          <a:p>
            <a:pPr eaLnBrk="1" hangingPunct="1">
              <a:buClr>
                <a:srgbClr val="CC0000"/>
              </a:buClr>
            </a:pPr>
            <a:r>
              <a:rPr lang="en-US" dirty="0"/>
              <a:t>Adaptivity Analysis for Adaptive Data Analysis </a:t>
            </a:r>
            <a:r>
              <a:rPr lang="en-US" altLang="en-US" sz="1600" dirty="0"/>
              <a:t>(In Improvement)</a:t>
            </a:r>
            <a:endParaRPr lang="en-US" altLang="en-US" dirty="0"/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Query-While Language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Adaptivity Formalization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Program Analysis Algorithm</a:t>
            </a:r>
          </a:p>
          <a:p>
            <a:pPr eaLnBrk="1" hangingPunct="1">
              <a:buClr>
                <a:srgbClr val="CC0000"/>
              </a:buClr>
            </a:pPr>
            <a:r>
              <a:rPr lang="en-US" dirty="0"/>
              <a:t>Path-sensitive Reachability-Bound Analysis </a:t>
            </a:r>
            <a:r>
              <a:rPr lang="en-US" altLang="en-US" sz="1600" dirty="0"/>
              <a:t>(In Preparation)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Language Model 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Reachability-Bound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Path-sensitive Reachability-Bound Analysis Algorithm</a:t>
            </a:r>
            <a:endParaRPr lang="en-US" altLang="en-US" dirty="0"/>
          </a:p>
          <a:p>
            <a:pPr eaLnBrk="1" hangingPunct="1">
              <a:buClr>
                <a:srgbClr val="CC0000"/>
              </a:buClr>
            </a:pPr>
            <a:r>
              <a:rPr lang="en-US" altLang="en-US" dirty="0"/>
              <a:t>Status and Plan</a:t>
            </a: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1200" dirty="0"/>
          </a:p>
        </p:txBody>
      </p:sp>
      <p:sp>
        <p:nvSpPr>
          <p:cNvPr id="16386" name="Date Placeholder 4">
            <a:extLst>
              <a:ext uri="{FF2B5EF4-FFF2-40B4-BE49-F238E27FC236}">
                <a16:creationId xmlns:a16="http://schemas.microsoft.com/office/drawing/2014/main" id="{C22AB4F9-1D9D-A44A-9C7D-C9753B64519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r>
              <a:rPr lang="en-US" altLang="en-US" sz="1200" dirty="0">
                <a:solidFill>
                  <a:srgbClr val="CCCCCC"/>
                </a:solidFill>
                <a:latin typeface="Times New Roman" panose="02020603050405020304" pitchFamily="18" charset="0"/>
              </a:rPr>
              <a:t>12/13/19  </a:t>
            </a:r>
            <a:fld id="{66A2CBF4-2438-9C4C-AC89-F2F74E06BD44}" type="slidenum">
              <a:rPr lang="en-US" altLang="en-US" sz="1200" smtClean="0">
                <a:solidFill>
                  <a:srgbClr val="CCCCCC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 sz="1200" baseline="0" dirty="0">
              <a:solidFill>
                <a:srgbClr val="CCCC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F686F392-E16A-DA44-9821-733E360B2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60575" y="-6762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BB2F8E6-6455-8B1A-72AA-4812202E6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9600" y="0"/>
            <a:ext cx="5105400" cy="304800"/>
          </a:xfrm>
        </p:spPr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Usefulness of Analyzing Program Properties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</a:t>
            </a:fld>
            <a:endParaRPr lang="en-US" altLang="en-US" baseline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5C406A-D38C-1840-5E71-5FFD77893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3048000"/>
          </a:xfrm>
        </p:spPr>
        <p:txBody>
          <a:bodyPr/>
          <a:lstStyle/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Improve Software Reliability : </a:t>
            </a:r>
          </a:p>
          <a:p>
            <a:pPr marL="0" indent="0" eaLnBrk="1" hangingPunct="1">
              <a:buClr>
                <a:srgbClr val="CC0000"/>
              </a:buClr>
              <a:buNone/>
            </a:pPr>
            <a:r>
              <a:rPr lang="en-US" altLang="en-US" sz="2200" dirty="0"/>
              <a:t>Prove the execution correctness and control incorrect programs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Improve Program Scalability:</a:t>
            </a:r>
          </a:p>
          <a:p>
            <a:pPr marL="0" indent="0" eaLnBrk="1" hangingPunct="1">
              <a:buClr>
                <a:srgbClr val="CC0000"/>
              </a:buClr>
              <a:buNone/>
            </a:pPr>
            <a:r>
              <a:rPr lang="en-US" altLang="en-US" sz="2200" dirty="0"/>
              <a:t>analysis of the resource cost and control resource usage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Protect Privacy of the Data through program:</a:t>
            </a:r>
            <a:endParaRPr lang="en-US" altLang="en-US" sz="200" b="1" dirty="0"/>
          </a:p>
          <a:p>
            <a:pPr eaLnBrk="1" hangingPunct="1">
              <a:buClr>
                <a:srgbClr val="CC0000"/>
              </a:buClr>
            </a:pPr>
            <a:endParaRPr lang="en-US" altLang="en-US" sz="200" b="1" dirty="0"/>
          </a:p>
          <a:p>
            <a:pPr marL="0" indent="0" eaLnBrk="1" hangingPunct="1">
              <a:buClr>
                <a:srgbClr val="CC0000"/>
              </a:buClr>
              <a:buNone/>
            </a:pPr>
            <a:r>
              <a:rPr lang="en-US" altLang="en-US" sz="2400" dirty="0"/>
              <a:t>analysis of the security property and prevent 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Etc.</a:t>
            </a:r>
            <a:endParaRPr lang="en-US" altLang="en-US" sz="200" b="1" dirty="0"/>
          </a:p>
          <a:p>
            <a:pPr marL="0" indent="0" eaLnBrk="1" hangingPunct="1">
              <a:buClr>
                <a:srgbClr val="CC0000"/>
              </a:buClr>
              <a:buNone/>
            </a:pPr>
            <a:endParaRPr lang="en-US" altLang="en-US" sz="24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95BE8-8BB2-E59B-7997-9F049C64699A}"/>
              </a:ext>
            </a:extLst>
          </p:cNvPr>
          <p:cNvSpPr txBox="1"/>
          <p:nvPr/>
        </p:nvSpPr>
        <p:spPr>
          <a:xfrm>
            <a:off x="600307" y="5029200"/>
            <a:ext cx="739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Clr>
                <a:srgbClr val="CC0000"/>
              </a:buClr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 Certain Properties  can better help improve program design than others.</a:t>
            </a:r>
            <a:endParaRPr lang="en-US" altLang="en-US" sz="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7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Reachability Properties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</a:t>
            </a:fld>
            <a:endParaRPr lang="en-US" altLang="en-US" baseline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5C406A-D38C-1840-5E71-5FFD77893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3048000"/>
          </a:xfrm>
        </p:spPr>
        <p:txBody>
          <a:bodyPr/>
          <a:lstStyle/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Safety: </a:t>
            </a:r>
          </a:p>
          <a:p>
            <a:pPr marL="0" indent="0" eaLnBrk="1" hangingPunct="1">
              <a:buClr>
                <a:srgbClr val="CC0000"/>
              </a:buClr>
              <a:buNone/>
            </a:pPr>
            <a:r>
              <a:rPr lang="en-US" altLang="en-US" sz="2200" dirty="0"/>
              <a:t>whether secret is leaked? how much secret is leaked?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Data Dependency:</a:t>
            </a:r>
          </a:p>
          <a:p>
            <a:pPr marL="0" indent="0" eaLnBrk="1" hangingPunct="1">
              <a:buClr>
                <a:srgbClr val="CC0000"/>
              </a:buClr>
              <a:buNone/>
            </a:pPr>
            <a:r>
              <a:rPr lang="en-US" altLang="en-US" sz="2200" dirty="0"/>
              <a:t>whether some data re used? how many times certain data is used?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b="1" dirty="0"/>
              <a:t>Resource Usage, etc.</a:t>
            </a:r>
            <a:endParaRPr lang="en-US" altLang="en-US" sz="200" b="1" dirty="0"/>
          </a:p>
          <a:p>
            <a:pPr marL="0" indent="0" eaLnBrk="1" hangingPunct="1">
              <a:buClr>
                <a:srgbClr val="CC0000"/>
              </a:buClr>
              <a:buNone/>
            </a:pPr>
            <a:endParaRPr lang="en-US" altLang="en-US" sz="200" dirty="0"/>
          </a:p>
          <a:p>
            <a:pPr marL="0" indent="0" eaLnBrk="1" hangingPunct="1">
              <a:buClr>
                <a:srgbClr val="CC0000"/>
              </a:buClr>
              <a:buNone/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  <a:p>
            <a:pPr eaLnBrk="1" hangingPunct="1">
              <a:buClr>
                <a:srgbClr val="CC0000"/>
              </a:buClr>
            </a:pPr>
            <a:endParaRPr lang="en-US" altLang="en-US" sz="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598B0-1C32-7A00-3518-36FB1C5B41F3}"/>
              </a:ext>
            </a:extLst>
          </p:cNvPr>
          <p:cNvSpPr txBox="1"/>
          <p:nvPr/>
        </p:nvSpPr>
        <p:spPr>
          <a:xfrm>
            <a:off x="609600" y="4953000"/>
            <a:ext cx="739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Clr>
                <a:srgbClr val="CC0000"/>
              </a:buClr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Reachable + Quantitative Aspects,</a:t>
            </a:r>
          </a:p>
          <a:p>
            <a:pPr marL="0" indent="0" algn="ctr" eaLnBrk="1" hangingPunct="1">
              <a:buClr>
                <a:srgbClr val="CC0000"/>
              </a:buClr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aspects better help improve program design.</a:t>
            </a:r>
            <a:endParaRPr lang="en-US" altLang="en-US" sz="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65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: Technique Limitations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</a:t>
            </a:fld>
            <a:endParaRPr lang="en-US" altLang="en-US" baseline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CAF4FD-009D-1A69-F2EB-8DC013ED2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3200400"/>
          </a:xfrm>
        </p:spPr>
        <p:txBody>
          <a:bodyPr/>
          <a:lstStyle/>
          <a:p>
            <a:pPr eaLnBrk="1" hangingPunct="1">
              <a:buClr>
                <a:srgbClr val="CC0000"/>
              </a:buClr>
            </a:pPr>
            <a:r>
              <a:rPr lang="en-US" dirty="0"/>
              <a:t>Control-flow, Data-flow or Liveness Analysis: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only whether certain code piece is executed or not</a:t>
            </a:r>
            <a:r>
              <a:rPr lang="en-US" dirty="0">
                <a:sym typeface="Wingdings" pitchFamily="2" charset="2"/>
              </a:rPr>
              <a:t>  reachability</a:t>
            </a:r>
            <a:endParaRPr lang="en-US" dirty="0"/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only whether some data is used </a:t>
            </a:r>
            <a:r>
              <a:rPr lang="en-US" dirty="0">
                <a:sym typeface="Wingdings" pitchFamily="2" charset="2"/>
              </a:rPr>
              <a:t> reachability</a:t>
            </a:r>
            <a:endParaRPr lang="en-US" dirty="0"/>
          </a:p>
          <a:p>
            <a:pPr eaLnBrk="1" hangingPunct="1">
              <a:buClr>
                <a:srgbClr val="CC0000"/>
              </a:buClr>
            </a:pPr>
            <a:r>
              <a:rPr lang="en-US" dirty="0"/>
              <a:t>Dependency analysis techniques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only whether code piece execution / data depend on others</a:t>
            </a:r>
            <a:r>
              <a:rPr lang="en-US" dirty="0">
                <a:sym typeface="Wingdings" pitchFamily="2" charset="2"/>
              </a:rPr>
              <a:t>  reachability</a:t>
            </a:r>
            <a:endParaRPr lang="en-US" altLang="en-US" dirty="0"/>
          </a:p>
          <a:p>
            <a:pPr eaLnBrk="1" hangingPunct="1">
              <a:buClr>
                <a:srgbClr val="CC0000"/>
              </a:buClr>
            </a:pPr>
            <a:r>
              <a:rPr lang="en-US" altLang="en-US" dirty="0"/>
              <a:t>Cost Analysis: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only worst-case overall resource cost.</a:t>
            </a:r>
            <a:r>
              <a:rPr lang="en-US" dirty="0">
                <a:sym typeface="Wingdings" pitchFamily="2" charset="2"/>
              </a:rPr>
              <a:t>  quantity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150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the Methodology: Combination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6</a:t>
            </a:fld>
            <a:endParaRPr lang="en-US" altLang="en-US" baseline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CAF4FD-009D-1A69-F2EB-8DC013ED2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4038600"/>
          </a:xfrm>
        </p:spPr>
        <p:txBody>
          <a:bodyPr/>
          <a:lstStyle/>
          <a:p>
            <a:r>
              <a:rPr lang="en-US" dirty="0"/>
              <a:t>Reachability Analysis Techniques including,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Control-flow, Data-flow and Liveness Analysis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dirty="0"/>
              <a:t>Dependency Analysis</a:t>
            </a:r>
          </a:p>
          <a:p>
            <a:pPr eaLnBrk="1" hangingPunct="1">
              <a:buClr>
                <a:srgbClr val="CC0000"/>
              </a:buClr>
            </a:pPr>
            <a:r>
              <a:rPr lang="en-US" altLang="en-US" dirty="0"/>
              <a:t>Quantitative Analysis Techniques including,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Resource Cost Analysis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Program Complexity Analysis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Worst-Case Execution Time Analysis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altLang="en-US" dirty="0"/>
              <a:t>Loop Bound Analysis</a:t>
            </a:r>
          </a:p>
        </p:txBody>
      </p:sp>
    </p:spTree>
    <p:extLst>
      <p:ext uri="{BB962C8B-B14F-4D97-AF65-F5344CB8AC3E}">
        <p14:creationId xmlns:p14="http://schemas.microsoft.com/office/powerpoint/2010/main" val="314172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Interested Quantitative Reachability Properties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for Quantitative Reachability Properties 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7</a:t>
            </a:fld>
            <a:endParaRPr lang="en-US" altLang="en-US" baseline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CAF4FD-009D-1A69-F2EB-8DC013ED2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924800" cy="4038600"/>
          </a:xfrm>
        </p:spPr>
        <p:txBody>
          <a:bodyPr/>
          <a:lstStyle/>
          <a:p>
            <a:r>
              <a:rPr lang="en-US" altLang="en-US" dirty="0"/>
              <a:t>Adaptivity in An Adaptive Data Analysis </a:t>
            </a:r>
          </a:p>
          <a:p>
            <a:pPr lvl="1"/>
            <a:r>
              <a:rPr lang="en-US" dirty="0"/>
              <a:t>Help to improve the “accuracy” of the results in data analysis programs.</a:t>
            </a:r>
          </a:p>
          <a:p>
            <a:pPr lvl="1"/>
            <a:endParaRPr lang="en-US" dirty="0"/>
          </a:p>
          <a:p>
            <a:r>
              <a:rPr lang="en-US" dirty="0"/>
              <a:t>Reachability-Bound</a:t>
            </a:r>
          </a:p>
          <a:p>
            <a:pPr lvl="1"/>
            <a:r>
              <a:rPr lang="en-US" dirty="0"/>
              <a:t>Help to improve the analysis result on other program features such as: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computing tight bound on program resource cost, execution time, etc.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estimating the program’s information leakage, uncertainty propagation, etc. accurately.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analyzing “adaptivity” above precisely.</a:t>
            </a:r>
          </a:p>
          <a:p>
            <a:pPr lvl="1"/>
            <a:r>
              <a:rPr lang="en-US" dirty="0"/>
              <a:t>Help to improve program performance based on the improved analysis results.</a:t>
            </a:r>
          </a:p>
        </p:txBody>
      </p:sp>
    </p:spTree>
    <p:extLst>
      <p:ext uri="{BB962C8B-B14F-4D97-AF65-F5344CB8AC3E}">
        <p14:creationId xmlns:p14="http://schemas.microsoft.com/office/powerpoint/2010/main" val="132911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FF6A32-AFBC-2F75-E71A-D353EBA0C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buClr>
                <a:srgbClr val="CC0000"/>
              </a:buClr>
            </a:pPr>
            <a:r>
              <a:rPr lang="en-US" altLang="en-US" dirty="0"/>
              <a:t>PART I : </a:t>
            </a:r>
            <a:r>
              <a:rPr lang="en-US" dirty="0"/>
              <a:t>Program Analysis for Adaptive Data Analysis</a:t>
            </a:r>
            <a:br>
              <a:rPr lang="en-US" dirty="0"/>
            </a:br>
            <a:r>
              <a:rPr lang="en-US" altLang="en-US" dirty="0"/>
              <a:t>(In Improvement)</a:t>
            </a:r>
          </a:p>
        </p:txBody>
      </p:sp>
    </p:spTree>
    <p:extLst>
      <p:ext uri="{BB962C8B-B14F-4D97-AF65-F5344CB8AC3E}">
        <p14:creationId xmlns:p14="http://schemas.microsoft.com/office/powerpoint/2010/main" val="28091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246C-161D-E178-F48D-3B72426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Data Analysis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F50AC-037D-4D90-8D70-56FC9131D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4828-1FE7-61A7-B455-45C9807E4B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9</a:t>
            </a:fld>
            <a:endParaRPr lang="en-US" altLang="en-US" baseline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E20F0-8B2A-9D1D-2B1E-75B674EF8B49}"/>
              </a:ext>
            </a:extLst>
          </p:cNvPr>
          <p:cNvSpPr txBox="1"/>
          <p:nvPr/>
        </p:nvSpPr>
        <p:spPr>
          <a:xfrm>
            <a:off x="4053481" y="5021475"/>
            <a:ext cx="28554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Data</a:t>
            </a:r>
            <a:r>
              <a:rPr lang="zh-CN" altLang="en-US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Analysis</a:t>
            </a:r>
            <a:endParaRPr lang="en-US" altLang="zh-CN" sz="2000" b="1" dirty="0">
              <a:solidFill>
                <a:srgbClr val="C00000"/>
              </a:solidFill>
              <a:latin typeface="Times" pitchFamily="2" charset="0"/>
              <a:ea typeface="Arial" charset="0"/>
              <a:cs typeface="Arial" charset="0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B306030-E0FD-FA3B-A9B7-B2586D173C89}"/>
              </a:ext>
            </a:extLst>
          </p:cNvPr>
          <p:cNvSpPr/>
          <p:nvPr/>
        </p:nvSpPr>
        <p:spPr>
          <a:xfrm>
            <a:off x="1715561" y="3297795"/>
            <a:ext cx="1148610" cy="52586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" pitchFamily="2" charset="0"/>
              </a:rPr>
              <a:t>sample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70F57B-3F8C-50E8-6CB9-157E7440A44B}"/>
              </a:ext>
            </a:extLst>
          </p:cNvPr>
          <p:cNvSpPr/>
          <p:nvPr/>
        </p:nvSpPr>
        <p:spPr>
          <a:xfrm>
            <a:off x="3058412" y="2770165"/>
            <a:ext cx="963474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data set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X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6D7DDCB-4D84-E310-55A4-5701D9A6675A}"/>
              </a:ext>
            </a:extLst>
          </p:cNvPr>
          <p:cNvSpPr/>
          <p:nvPr/>
        </p:nvSpPr>
        <p:spPr>
          <a:xfrm>
            <a:off x="4231003" y="3297795"/>
            <a:ext cx="2892573" cy="52586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" pitchFamily="2" charset="0"/>
              </a:rPr>
              <a:t>request</a:t>
            </a:r>
            <a:r>
              <a:rPr lang="zh-CN" altLang="en-US" sz="2000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Times" pitchFamily="2" charset="0"/>
              </a:rPr>
              <a:t>query on X</a:t>
            </a:r>
            <a:endParaRPr lang="en-US" sz="20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F093A9-0A8A-4169-E2C4-8C44A8F646D9}"/>
              </a:ext>
            </a:extLst>
          </p:cNvPr>
          <p:cNvCxnSpPr>
            <a:cxnSpLocks/>
          </p:cNvCxnSpPr>
          <p:nvPr/>
        </p:nvCxnSpPr>
        <p:spPr>
          <a:xfrm>
            <a:off x="5504473" y="4125579"/>
            <a:ext cx="0" cy="92798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99F66-7C27-1696-FA02-21DF20ADA00C}"/>
              </a:ext>
            </a:extLst>
          </p:cNvPr>
          <p:cNvSpPr/>
          <p:nvPr/>
        </p:nvSpPr>
        <p:spPr>
          <a:xfrm>
            <a:off x="7392184" y="2744397"/>
            <a:ext cx="1206361" cy="1636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analysis result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A774115-140F-0674-78F1-B664B4DF002A}"/>
              </a:ext>
            </a:extLst>
          </p:cNvPr>
          <p:cNvSpPr/>
          <p:nvPr/>
        </p:nvSpPr>
        <p:spPr>
          <a:xfrm>
            <a:off x="4216127" y="2844395"/>
            <a:ext cx="3026426" cy="1454123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Times" pitchFamily="2" charset="0"/>
              </a:rPr>
              <a:t>Combination of multiple queries over X</a:t>
            </a: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B03B9B3D-909A-4D4C-0058-94CE52A7A9FF}"/>
              </a:ext>
            </a:extLst>
          </p:cNvPr>
          <p:cNvSpPr/>
          <p:nvPr/>
        </p:nvSpPr>
        <p:spPr>
          <a:xfrm flipH="1" flipV="1">
            <a:off x="838200" y="1837260"/>
            <a:ext cx="7095559" cy="716084"/>
          </a:xfrm>
          <a:prstGeom prst="curvedUp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BE7B8-4A1C-53EE-6298-0155FF9075EB}"/>
              </a:ext>
            </a:extLst>
          </p:cNvPr>
          <p:cNvSpPr txBox="1"/>
          <p:nvPr/>
        </p:nvSpPr>
        <p:spPr>
          <a:xfrm>
            <a:off x="3526580" y="1905000"/>
            <a:ext cx="218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discover / predicate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9AA5F6-4180-DD66-5734-98DC8DEFDA1E}"/>
              </a:ext>
            </a:extLst>
          </p:cNvPr>
          <p:cNvSpPr/>
          <p:nvPr/>
        </p:nvSpPr>
        <p:spPr>
          <a:xfrm>
            <a:off x="299772" y="2763932"/>
            <a:ext cx="1294663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unknown population</a:t>
            </a:r>
          </a:p>
        </p:txBody>
      </p:sp>
    </p:spTree>
    <p:extLst>
      <p:ext uri="{BB962C8B-B14F-4D97-AF65-F5344CB8AC3E}">
        <p14:creationId xmlns:p14="http://schemas.microsoft.com/office/powerpoint/2010/main" val="374381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43E1-568F-25CB-49B0-64C09FAD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Data Analysis – Simple Example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DADDC-4B17-2A0B-82EA-85987736D9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60468-9A11-B46D-21E8-B597F072793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10</a:t>
            </a:fld>
            <a:endParaRPr lang="en-US" altLang="en-US" baseline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365E4-0EA0-AD88-7DC5-44B560A9DEDE}"/>
              </a:ext>
            </a:extLst>
          </p:cNvPr>
          <p:cNvSpPr txBox="1"/>
          <p:nvPr/>
        </p:nvSpPr>
        <p:spPr>
          <a:xfrm>
            <a:off x="195133" y="2476449"/>
            <a:ext cx="2400928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some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queries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rely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on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the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results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of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other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queries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8C75CE-0444-4692-D647-E43126216B49}"/>
                  </a:ext>
                </a:extLst>
              </p:cNvPr>
              <p:cNvSpPr/>
              <p:nvPr/>
            </p:nvSpPr>
            <p:spPr>
              <a:xfrm>
                <a:off x="2524704" y="1596108"/>
                <a:ext cx="1679557" cy="461665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8C75CE-0444-4692-D647-E43126216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704" y="1596108"/>
                <a:ext cx="1679557" cy="461665"/>
              </a:xfrm>
              <a:prstGeom prst="rect">
                <a:avLst/>
              </a:prstGeom>
              <a:blipFill>
                <a:blip r:embed="rId2"/>
                <a:stretch>
                  <a:fillRect l="-1493" b="-1842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AA46E76-9EC0-215A-8DB0-38A0CE34A2F5}"/>
                  </a:ext>
                </a:extLst>
              </p:cNvPr>
              <p:cNvSpPr/>
              <p:nvPr/>
            </p:nvSpPr>
            <p:spPr>
              <a:xfrm>
                <a:off x="2777826" y="2659478"/>
                <a:ext cx="2136811" cy="461665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AA46E76-9EC0-215A-8DB0-38A0CE34A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826" y="2659478"/>
                <a:ext cx="2136811" cy="461665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50CF20-BA0F-46B9-CA7E-A758F7F7F0B0}"/>
                  </a:ext>
                </a:extLst>
              </p:cNvPr>
              <p:cNvSpPr/>
              <p:nvPr/>
            </p:nvSpPr>
            <p:spPr>
              <a:xfrm>
                <a:off x="3364483" y="3586223"/>
                <a:ext cx="2136811" cy="461665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50CF20-BA0F-46B9-CA7E-A758F7F7F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483" y="3586223"/>
                <a:ext cx="2136811" cy="461665"/>
              </a:xfrm>
              <a:prstGeom prst="rect">
                <a:avLst/>
              </a:prstGeom>
              <a:blipFill>
                <a:blip r:embed="rId4"/>
                <a:stretch>
                  <a:fillRect b="-17949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28C01B9-ABB1-2C6C-D854-8DAB9C142F63}"/>
                  </a:ext>
                </a:extLst>
              </p:cNvPr>
              <p:cNvSpPr/>
              <p:nvPr/>
            </p:nvSpPr>
            <p:spPr>
              <a:xfrm>
                <a:off x="4348640" y="5562751"/>
                <a:ext cx="2136811" cy="461666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28C01B9-ABB1-2C6C-D854-8DAB9C142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40" y="5562751"/>
                <a:ext cx="2136811" cy="461666"/>
              </a:xfrm>
              <a:prstGeom prst="rect">
                <a:avLst/>
              </a:prstGeom>
              <a:blipFill>
                <a:blip r:embed="rId5"/>
                <a:stretch>
                  <a:fillRect l="-1170" b="-21053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06C39FA-0D54-DFA3-5D3C-C2A05CDFC30E}"/>
              </a:ext>
            </a:extLst>
          </p:cNvPr>
          <p:cNvSpPr/>
          <p:nvPr/>
        </p:nvSpPr>
        <p:spPr>
          <a:xfrm>
            <a:off x="3880807" y="4503847"/>
            <a:ext cx="2136811" cy="461666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82EAAC-8D27-2D53-7549-ADF34138863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364483" y="2057773"/>
            <a:ext cx="984157" cy="784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FE86A1-85ED-CBE8-2DE2-150095EBD730}"/>
              </a:ext>
            </a:extLst>
          </p:cNvPr>
          <p:cNvCxnSpPr>
            <a:cxnSpLocks/>
          </p:cNvCxnSpPr>
          <p:nvPr/>
        </p:nvCxnSpPr>
        <p:spPr>
          <a:xfrm>
            <a:off x="4088052" y="3096407"/>
            <a:ext cx="794084" cy="784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FF3851-5D99-E3E2-20C3-E17FD267ECE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432889" y="4047888"/>
            <a:ext cx="929300" cy="715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C943B4-519C-EEB2-43AD-E4866580D6E0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949213" y="4965513"/>
            <a:ext cx="929299" cy="901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394AE6-BC11-E4AB-125A-729CA61F5C78}"/>
              </a:ext>
            </a:extLst>
          </p:cNvPr>
          <p:cNvCxnSpPr/>
          <p:nvPr/>
        </p:nvCxnSpPr>
        <p:spPr>
          <a:xfrm>
            <a:off x="6158772" y="1572410"/>
            <a:ext cx="0" cy="4275895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C4C177-8EB7-3C9D-1EA3-0326FE167043}"/>
                  </a:ext>
                </a:extLst>
              </p:cNvPr>
              <p:cNvSpPr txBox="1"/>
              <p:nvPr/>
            </p:nvSpPr>
            <p:spPr>
              <a:xfrm>
                <a:off x="6245865" y="2540046"/>
                <a:ext cx="180690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chain / </a:t>
                </a:r>
              </a:p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adaptivity depth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C4C177-8EB7-3C9D-1EA3-0326FE167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865" y="2540046"/>
                <a:ext cx="1806905" cy="923330"/>
              </a:xfrm>
              <a:prstGeom prst="rect">
                <a:avLst/>
              </a:prstGeom>
              <a:blipFill>
                <a:blip r:embed="rId6"/>
                <a:stretch>
                  <a:fillRect l="-20280" t="-5479" r="-18881" b="-28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2C91FD1-BB53-985B-F23E-A0D15DCBD9DD}"/>
              </a:ext>
            </a:extLst>
          </p:cNvPr>
          <p:cNvSpPr txBox="1"/>
          <p:nvPr/>
        </p:nvSpPr>
        <p:spPr>
          <a:xfrm>
            <a:off x="899496" y="159610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5E960D-1501-1B10-8FAC-2208955267D3}"/>
              </a:ext>
            </a:extLst>
          </p:cNvPr>
          <p:cNvCxnSpPr>
            <a:stCxn id="28" idx="3"/>
            <a:endCxn id="10" idx="1"/>
          </p:cNvCxnSpPr>
          <p:nvPr/>
        </p:nvCxnSpPr>
        <p:spPr bwMode="auto">
          <a:xfrm>
            <a:off x="1306980" y="1826941"/>
            <a:ext cx="12177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F77FD51-03F5-43C6-9779-C1BE22EDA966}"/>
              </a:ext>
            </a:extLst>
          </p:cNvPr>
          <p:cNvSpPr txBox="1"/>
          <p:nvPr/>
        </p:nvSpPr>
        <p:spPr>
          <a:xfrm>
            <a:off x="1447800" y="1422400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D16020-F985-8DD5-1835-CB52E60A48AB}"/>
              </a:ext>
            </a:extLst>
          </p:cNvPr>
          <p:cNvSpPr txBox="1"/>
          <p:nvPr/>
        </p:nvSpPr>
        <p:spPr>
          <a:xfrm>
            <a:off x="7694388" y="5378085"/>
            <a:ext cx="11753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2AF76E2-C089-0677-4FBC-90D1D3DC9971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 bwMode="auto">
          <a:xfrm>
            <a:off x="6485451" y="5793584"/>
            <a:ext cx="1208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75573BE-6553-6346-CD3C-BD1F34FCA1E2}"/>
              </a:ext>
            </a:extLst>
          </p:cNvPr>
          <p:cNvSpPr txBox="1"/>
          <p:nvPr/>
        </p:nvSpPr>
        <p:spPr>
          <a:xfrm>
            <a:off x="6644967" y="5405518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7222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A14C-E81B-1592-64E5-CD61254F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Data Analysis – non-Trivial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970C8-9CC2-084E-DFD8-7E6B603DA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C0F62-511A-2035-61CC-CC1618E3B0C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11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096B66-2BA1-551B-D485-FBF4B11D7D2B}"/>
                  </a:ext>
                </a:extLst>
              </p:cNvPr>
              <p:cNvSpPr/>
              <p:nvPr/>
            </p:nvSpPr>
            <p:spPr>
              <a:xfrm>
                <a:off x="2125497" y="1949192"/>
                <a:ext cx="101453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096B66-2BA1-551B-D485-FBF4B11D7D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497" y="1949192"/>
                <a:ext cx="1014538" cy="404383"/>
              </a:xfrm>
              <a:prstGeom prst="rect">
                <a:avLst/>
              </a:prstGeom>
              <a:blipFill>
                <a:blip r:embed="rId2"/>
                <a:stretch>
                  <a:fillRect l="-6173" r="-2469" b="-60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DFCB00C-5FDB-431D-C520-2E5D76972459}"/>
                  </a:ext>
                </a:extLst>
              </p:cNvPr>
              <p:cNvSpPr/>
              <p:nvPr/>
            </p:nvSpPr>
            <p:spPr>
              <a:xfrm>
                <a:off x="4095406" y="1954554"/>
                <a:ext cx="101453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DFCB00C-5FDB-431D-C520-2E5D769724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406" y="1954554"/>
                <a:ext cx="1014538" cy="404383"/>
              </a:xfrm>
              <a:prstGeom prst="rect">
                <a:avLst/>
              </a:prstGeom>
              <a:blipFill>
                <a:blip r:embed="rId3"/>
                <a:stretch>
                  <a:fillRect l="-6173" r="-2469" b="-5882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CEB5808-868D-EC4F-D1C5-1C76CD43FD47}"/>
                  </a:ext>
                </a:extLst>
              </p:cNvPr>
              <p:cNvSpPr/>
              <p:nvPr/>
            </p:nvSpPr>
            <p:spPr>
              <a:xfrm>
                <a:off x="5618102" y="1949564"/>
                <a:ext cx="1014539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CEB5808-868D-EC4F-D1C5-1C76CD43F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102" y="1949564"/>
                <a:ext cx="1014539" cy="404383"/>
              </a:xfrm>
              <a:prstGeom prst="rect">
                <a:avLst/>
              </a:prstGeom>
              <a:blipFill>
                <a:blip r:embed="rId4"/>
                <a:stretch>
                  <a:fillRect l="-6173" r="-2469" b="-60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411BE6-369D-D32C-28BF-9C3D7ACAD6E9}"/>
                  </a:ext>
                </a:extLst>
              </p:cNvPr>
              <p:cNvSpPr/>
              <p:nvPr/>
            </p:nvSpPr>
            <p:spPr>
              <a:xfrm>
                <a:off x="3550577" y="5244389"/>
                <a:ext cx="158381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,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411BE6-369D-D32C-28BF-9C3D7ACAD6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77" y="5244389"/>
                <a:ext cx="1583818" cy="404383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3D5B73-2AFF-1A63-DFC6-F09E2BB1053D}"/>
                  </a:ext>
                </a:extLst>
              </p:cNvPr>
              <p:cNvSpPr/>
              <p:nvPr/>
            </p:nvSpPr>
            <p:spPr>
              <a:xfrm>
                <a:off x="2665864" y="3025434"/>
                <a:ext cx="1371106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3D5B73-2AFF-1A63-DFC6-F09E2BB10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64" y="3025434"/>
                <a:ext cx="1371106" cy="404383"/>
              </a:xfrm>
              <a:prstGeom prst="rect">
                <a:avLst/>
              </a:prstGeom>
              <a:blipFill>
                <a:blip r:embed="rId6"/>
                <a:stretch>
                  <a:fillRect l="-3636" r="-909" b="-5882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1D45034-0F2C-D70C-AE8F-EA7CCD69F356}"/>
                  </a:ext>
                </a:extLst>
              </p:cNvPr>
              <p:cNvSpPr/>
              <p:nvPr/>
            </p:nvSpPr>
            <p:spPr>
              <a:xfrm>
                <a:off x="4862690" y="3007597"/>
                <a:ext cx="1508160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,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1D45034-0F2C-D70C-AE8F-EA7CCD69F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90" y="3007597"/>
                <a:ext cx="1508160" cy="404383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57678-F6BF-E8EE-BB3A-FD6BCC08B91E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790725" y="2353947"/>
            <a:ext cx="334647" cy="878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4E9778-1208-1E87-FBF2-147332B03740}"/>
              </a:ext>
            </a:extLst>
          </p:cNvPr>
          <p:cNvCxnSpPr>
            <a:cxnSpLocks/>
          </p:cNvCxnSpPr>
          <p:nvPr/>
        </p:nvCxnSpPr>
        <p:spPr>
          <a:xfrm>
            <a:off x="2577563" y="2343177"/>
            <a:ext cx="984817" cy="878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7F3549-750F-19C6-76E2-DC0CE9722A40}"/>
              </a:ext>
            </a:extLst>
          </p:cNvPr>
          <p:cNvCxnSpPr>
            <a:cxnSpLocks/>
          </p:cNvCxnSpPr>
          <p:nvPr/>
        </p:nvCxnSpPr>
        <p:spPr>
          <a:xfrm flipH="1">
            <a:off x="3589777" y="2362202"/>
            <a:ext cx="964776" cy="8499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B2559-4CDB-A0D5-DCA0-23138239A6A8}"/>
              </a:ext>
            </a:extLst>
          </p:cNvPr>
          <p:cNvSpPr/>
          <p:nvPr/>
        </p:nvSpPr>
        <p:spPr>
          <a:xfrm>
            <a:off x="1904999" y="3944393"/>
            <a:ext cx="976805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30A136-852B-880A-62C3-50A518A0ACCC}"/>
              </a:ext>
            </a:extLst>
          </p:cNvPr>
          <p:cNvSpPr/>
          <p:nvPr/>
        </p:nvSpPr>
        <p:spPr>
          <a:xfrm>
            <a:off x="3627120" y="3972038"/>
            <a:ext cx="890233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94A581-7D21-0852-BC68-3AFA62932EF6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336774" y="3429817"/>
            <a:ext cx="1014643" cy="6917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C7FC6A-0BC0-6B1F-5329-4F131ECD3CDC}"/>
              </a:ext>
            </a:extLst>
          </p:cNvPr>
          <p:cNvCxnSpPr>
            <a:cxnSpLocks/>
          </p:cNvCxnSpPr>
          <p:nvPr/>
        </p:nvCxnSpPr>
        <p:spPr>
          <a:xfrm>
            <a:off x="3402945" y="3420299"/>
            <a:ext cx="670390" cy="701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900CB7-D9E2-5C79-4622-4D50A8D17A4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393402" y="4348776"/>
            <a:ext cx="2123951" cy="1070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05F0B9-BC65-654A-EF77-B0F4C1446721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4668139" y="4376421"/>
            <a:ext cx="888526" cy="10274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CF384C-AC31-E74D-582D-B7D19B267406}"/>
              </a:ext>
            </a:extLst>
          </p:cNvPr>
          <p:cNvCxnSpPr>
            <a:cxnSpLocks/>
          </p:cNvCxnSpPr>
          <p:nvPr/>
        </p:nvCxnSpPr>
        <p:spPr>
          <a:xfrm>
            <a:off x="7239000" y="1949192"/>
            <a:ext cx="0" cy="4070608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68FEB4-696C-C716-E0DC-9A298F413852}"/>
              </a:ext>
            </a:extLst>
          </p:cNvPr>
          <p:cNvCxnSpPr>
            <a:cxnSpLocks/>
          </p:cNvCxnSpPr>
          <p:nvPr/>
        </p:nvCxnSpPr>
        <p:spPr>
          <a:xfrm>
            <a:off x="2362174" y="2431000"/>
            <a:ext cx="0" cy="3110383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06B80-DB2A-2105-EF1B-0F465021EADD}"/>
                  </a:ext>
                </a:extLst>
              </p:cNvPr>
              <p:cNvSpPr txBox="1"/>
              <p:nvPr/>
            </p:nvSpPr>
            <p:spPr>
              <a:xfrm>
                <a:off x="1185041" y="3296637"/>
                <a:ext cx="9617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06B80-DB2A-2105-EF1B-0F465021E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041" y="3296637"/>
                <a:ext cx="961745" cy="830997"/>
              </a:xfrm>
              <a:prstGeom prst="rect">
                <a:avLst/>
              </a:prstGeom>
              <a:blipFill>
                <a:blip r:embed="rId8"/>
                <a:stretch>
                  <a:fillRect l="-9211" t="-6061" r="-9211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FBC96BD2-8DDC-A4E5-5118-FA20E1445C08}"/>
              </a:ext>
            </a:extLst>
          </p:cNvPr>
          <p:cNvSpPr/>
          <p:nvPr/>
        </p:nvSpPr>
        <p:spPr>
          <a:xfrm>
            <a:off x="5111548" y="3972038"/>
            <a:ext cx="890233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2287F57-29B2-8638-A8E9-E5D8A39F8AD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544241" y="3411980"/>
            <a:ext cx="72529" cy="752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C8A9EC-9447-A4B0-2F3D-39BA329C0021}"/>
              </a:ext>
            </a:extLst>
          </p:cNvPr>
          <p:cNvCxnSpPr>
            <a:cxnSpLocks/>
          </p:cNvCxnSpPr>
          <p:nvPr/>
        </p:nvCxnSpPr>
        <p:spPr>
          <a:xfrm flipH="1">
            <a:off x="6114428" y="2412359"/>
            <a:ext cx="6728" cy="3198591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FB39CBE-61AB-9EFF-61B0-808CF9C1ABD4}"/>
                  </a:ext>
                </a:extLst>
              </p:cNvPr>
              <p:cNvSpPr txBox="1"/>
              <p:nvPr/>
            </p:nvSpPr>
            <p:spPr>
              <a:xfrm>
                <a:off x="6093614" y="3446021"/>
                <a:ext cx="9617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FB39CBE-61AB-9EFF-61B0-808CF9C1A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614" y="3446021"/>
                <a:ext cx="961745" cy="830997"/>
              </a:xfrm>
              <a:prstGeom prst="rect">
                <a:avLst/>
              </a:prstGeom>
              <a:blipFill>
                <a:blip r:embed="rId9"/>
                <a:stretch>
                  <a:fillRect l="-9211" t="-6061" r="-789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78C9EA7-87BA-76D4-BF20-F0CD1107A714}"/>
                  </a:ext>
                </a:extLst>
              </p:cNvPr>
              <p:cNvSpPr txBox="1"/>
              <p:nvPr/>
            </p:nvSpPr>
            <p:spPr>
              <a:xfrm>
                <a:off x="7199853" y="3076689"/>
                <a:ext cx="179704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adaptivity depth</a:t>
                </a:r>
                <a:endParaRPr lang="en-US" altLang="ja-JP" sz="2400" b="1" i="1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𝒎𝒂𝒙</m:t>
                      </m:r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78C9EA7-87BA-76D4-BF20-F0CD1107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853" y="3076689"/>
                <a:ext cx="1797049" cy="1200329"/>
              </a:xfrm>
              <a:prstGeom prst="rect">
                <a:avLst/>
              </a:prstGeom>
              <a:blipFill>
                <a:blip r:embed="rId10"/>
                <a:stretch>
                  <a:fillRect t="-4211" r="-6294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47FD83A6-C308-AFCF-12FF-2EC6E0C01C2A}"/>
              </a:ext>
            </a:extLst>
          </p:cNvPr>
          <p:cNvSpPr txBox="1"/>
          <p:nvPr/>
        </p:nvSpPr>
        <p:spPr>
          <a:xfrm>
            <a:off x="122066" y="1908847"/>
            <a:ext cx="42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731D917-83EF-E446-5164-B18DF26B565B}"/>
              </a:ext>
            </a:extLst>
          </p:cNvPr>
          <p:cNvCxnSpPr>
            <a:cxnSpLocks/>
            <a:stCxn id="73" idx="3"/>
          </p:cNvCxnSpPr>
          <p:nvPr/>
        </p:nvCxnSpPr>
        <p:spPr bwMode="auto">
          <a:xfrm>
            <a:off x="545783" y="2139680"/>
            <a:ext cx="1201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373A378-3D88-83A4-F8F6-CDC02AED36D7}"/>
              </a:ext>
            </a:extLst>
          </p:cNvPr>
          <p:cNvSpPr txBox="1"/>
          <p:nvPr/>
        </p:nvSpPr>
        <p:spPr>
          <a:xfrm>
            <a:off x="670371" y="1735139"/>
            <a:ext cx="848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34A3D7-680F-CC58-67C2-475334332747}"/>
              </a:ext>
            </a:extLst>
          </p:cNvPr>
          <p:cNvSpPr txBox="1"/>
          <p:nvPr/>
        </p:nvSpPr>
        <p:spPr>
          <a:xfrm>
            <a:off x="7694388" y="5378085"/>
            <a:ext cx="11753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0F779D-61E2-88FF-3669-B55A7C7411B3}"/>
              </a:ext>
            </a:extLst>
          </p:cNvPr>
          <p:cNvCxnSpPr>
            <a:cxnSpLocks/>
            <a:endCxn id="76" idx="1"/>
          </p:cNvCxnSpPr>
          <p:nvPr/>
        </p:nvCxnSpPr>
        <p:spPr bwMode="auto">
          <a:xfrm>
            <a:off x="6485451" y="5793584"/>
            <a:ext cx="1208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1B30167-2B6C-6B26-B359-9D810CF82AEA}"/>
              </a:ext>
            </a:extLst>
          </p:cNvPr>
          <p:cNvSpPr txBox="1"/>
          <p:nvPr/>
        </p:nvSpPr>
        <p:spPr>
          <a:xfrm>
            <a:off x="6644967" y="5405518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90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DC50-19C0-B183-82CA-01319835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Error / Overfitting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2879D-C76E-256B-BDDE-C5CCB851C6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03BF0-B047-9A79-F4B6-69044FEA0D7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12</a:t>
            </a:fld>
            <a:endParaRPr lang="en-US" altLang="en-US" baseline="0"/>
          </a:p>
        </p:txBody>
      </p:sp>
      <p:sp>
        <p:nvSpPr>
          <p:cNvPr id="13" name="Curved Up Arrow 12">
            <a:extLst>
              <a:ext uri="{FF2B5EF4-FFF2-40B4-BE49-F238E27FC236}">
                <a16:creationId xmlns:a16="http://schemas.microsoft.com/office/drawing/2014/main" id="{BA3559DD-E4D5-2C94-9CA1-F22452B37A20}"/>
              </a:ext>
            </a:extLst>
          </p:cNvPr>
          <p:cNvSpPr/>
          <p:nvPr/>
        </p:nvSpPr>
        <p:spPr>
          <a:xfrm flipH="1" flipV="1">
            <a:off x="672784" y="1583136"/>
            <a:ext cx="8037093" cy="1252206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18E2A-6160-488F-46F8-6AA75F894931}"/>
              </a:ext>
            </a:extLst>
          </p:cNvPr>
          <p:cNvSpPr txBox="1"/>
          <p:nvPr/>
        </p:nvSpPr>
        <p:spPr>
          <a:xfrm>
            <a:off x="2000800" y="2227211"/>
            <a:ext cx="157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" pitchFamily="2" charset="0"/>
              </a:rPr>
              <a:t>genl. error</a:t>
            </a:r>
            <a:endParaRPr lang="en-US" b="1" dirty="0">
              <a:solidFill>
                <a:srgbClr val="C00000"/>
              </a:solidFill>
              <a:latin typeface="Times" pitchFamily="2" charset="0"/>
            </a:endParaRPr>
          </a:p>
        </p:txBody>
      </p:sp>
      <p:sp>
        <p:nvSpPr>
          <p:cNvPr id="15" name="Curved Up Arrow 14">
            <a:extLst>
              <a:ext uri="{FF2B5EF4-FFF2-40B4-BE49-F238E27FC236}">
                <a16:creationId xmlns:a16="http://schemas.microsoft.com/office/drawing/2014/main" id="{16425B7F-BDB6-DF25-8C33-FA5D74BB2E7D}"/>
              </a:ext>
            </a:extLst>
          </p:cNvPr>
          <p:cNvSpPr/>
          <p:nvPr/>
        </p:nvSpPr>
        <p:spPr>
          <a:xfrm flipH="1" flipV="1">
            <a:off x="3484956" y="1952468"/>
            <a:ext cx="5224923" cy="955515"/>
          </a:xfrm>
          <a:prstGeom prst="curvedUpArrow">
            <a:avLst/>
          </a:prstGeom>
          <a:solidFill>
            <a:srgbClr val="A6E290"/>
          </a:solidFill>
          <a:ln>
            <a:solidFill>
              <a:srgbClr val="A6E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CAED8-BCA8-ECB2-0652-B82EC1AAE2E5}"/>
              </a:ext>
            </a:extLst>
          </p:cNvPr>
          <p:cNvSpPr txBox="1"/>
          <p:nvPr/>
        </p:nvSpPr>
        <p:spPr>
          <a:xfrm>
            <a:off x="4268526" y="2383823"/>
            <a:ext cx="102944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A6E290"/>
                </a:solidFill>
                <a:latin typeface="Times" pitchFamily="2" charset="0"/>
              </a:rPr>
              <a:t>fits well</a:t>
            </a:r>
            <a:endParaRPr lang="en-US" b="1" dirty="0">
              <a:solidFill>
                <a:srgbClr val="A6E290"/>
              </a:solidFill>
              <a:latin typeface="Time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3C2D5-9DC7-2C18-E3A3-26018961221F}"/>
              </a:ext>
            </a:extLst>
          </p:cNvPr>
          <p:cNvSpPr txBox="1"/>
          <p:nvPr/>
        </p:nvSpPr>
        <p:spPr>
          <a:xfrm>
            <a:off x="237240" y="4978973"/>
            <a:ext cx="87065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3000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Times New Roman" panose="02020603050405020304" pitchFamily="18" charset="0"/>
              </a:rPr>
              <a:t>Adaptivity</a:t>
            </a:r>
            <a:r>
              <a:rPr lang="zh-CN" altLang="en-US" sz="3000" b="1" dirty="0">
                <a:solidFill>
                  <a:srgbClr val="002060"/>
                </a:solidFill>
                <a:latin typeface="Times" pitchFamily="2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US" altLang="zh-CN" sz="3000" b="1" dirty="0">
                <a:solidFill>
                  <a:srgbClr val="002060"/>
                </a:solidFill>
                <a:latin typeface="Times" pitchFamily="2" charset="0"/>
                <a:ea typeface="Arial" charset="0"/>
                <a:cs typeface="Times New Roman" panose="02020603050405020304" pitchFamily="18" charset="0"/>
              </a:rPr>
              <a:t>in analysis will </a:t>
            </a:r>
            <a:r>
              <a:rPr lang="en-US" altLang="zh-CN" sz="3000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Times New Roman" panose="02020603050405020304" pitchFamily="18" charset="0"/>
              </a:rPr>
              <a:t>propagate</a:t>
            </a:r>
            <a:r>
              <a:rPr lang="en-US" altLang="zh-CN" sz="3000" b="1" dirty="0">
                <a:solidFill>
                  <a:srgbClr val="002060"/>
                </a:solidFill>
                <a:latin typeface="Times" pitchFamily="2" charset="0"/>
                <a:ea typeface="Arial" charset="0"/>
                <a:cs typeface="Times New Roman" panose="02020603050405020304" pitchFamily="18" charset="0"/>
              </a:rPr>
              <a:t> the overfitting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" pitchFamily="2" charset="0"/>
              <a:ea typeface="Arial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87FB07-924C-5126-66A0-FE563298B590}"/>
              </a:ext>
            </a:extLst>
          </p:cNvPr>
          <p:cNvSpPr txBox="1"/>
          <p:nvPr/>
        </p:nvSpPr>
        <p:spPr>
          <a:xfrm>
            <a:off x="229806" y="1952468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" pitchFamily="2" charset="0"/>
              </a:rPr>
              <a:t>fits bad</a:t>
            </a:r>
            <a:endParaRPr lang="en-US" b="1" dirty="0">
              <a:solidFill>
                <a:srgbClr val="C00000"/>
              </a:solidFill>
              <a:latin typeface="Time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30DF5F-32AD-6D8C-E81C-C2F2FE22CA66}"/>
              </a:ext>
            </a:extLst>
          </p:cNvPr>
          <p:cNvSpPr txBox="1"/>
          <p:nvPr/>
        </p:nvSpPr>
        <p:spPr>
          <a:xfrm>
            <a:off x="4058871" y="4292628"/>
            <a:ext cx="28554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Data</a:t>
            </a:r>
            <a:r>
              <a:rPr lang="zh-CN" altLang="en-US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Analysis</a:t>
            </a:r>
            <a:endParaRPr lang="en-US" altLang="zh-CN" sz="2000" b="1" dirty="0">
              <a:solidFill>
                <a:srgbClr val="C00000"/>
              </a:solidFill>
              <a:latin typeface="Times" pitchFamily="2" charset="0"/>
              <a:ea typeface="Arial" charset="0"/>
              <a:cs typeface="Arial" charset="0"/>
            </a:endParaRP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CD1E06F1-9E5C-B773-E8AD-A3FE7EA88CC8}"/>
              </a:ext>
            </a:extLst>
          </p:cNvPr>
          <p:cNvSpPr/>
          <p:nvPr/>
        </p:nvSpPr>
        <p:spPr>
          <a:xfrm>
            <a:off x="1752546" y="3522738"/>
            <a:ext cx="1148610" cy="52586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" pitchFamily="2" charset="0"/>
              </a:rPr>
              <a:t>sample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7E5BD8-7D70-F4B5-A2F5-6264B82358FF}"/>
              </a:ext>
            </a:extLst>
          </p:cNvPr>
          <p:cNvSpPr/>
          <p:nvPr/>
        </p:nvSpPr>
        <p:spPr>
          <a:xfrm>
            <a:off x="3095397" y="2995108"/>
            <a:ext cx="963474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data set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X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5E71E7-8AD4-F9EA-F192-19028BCAF03E}"/>
              </a:ext>
            </a:extLst>
          </p:cNvPr>
          <p:cNvSpPr/>
          <p:nvPr/>
        </p:nvSpPr>
        <p:spPr>
          <a:xfrm>
            <a:off x="7503516" y="3033940"/>
            <a:ext cx="1206361" cy="1636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analysis result</a:t>
            </a: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19739E51-0FEE-BA67-1D83-86399FE56C74}"/>
              </a:ext>
            </a:extLst>
          </p:cNvPr>
          <p:cNvSpPr/>
          <p:nvPr/>
        </p:nvSpPr>
        <p:spPr>
          <a:xfrm>
            <a:off x="4287567" y="3125167"/>
            <a:ext cx="3026426" cy="1454123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Times" pitchFamily="2" charset="0"/>
              </a:rPr>
              <a:t>Combination of multiple queries over 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9CE792-5A31-C200-763B-09687C3991B0}"/>
              </a:ext>
            </a:extLst>
          </p:cNvPr>
          <p:cNvSpPr/>
          <p:nvPr/>
        </p:nvSpPr>
        <p:spPr>
          <a:xfrm>
            <a:off x="336757" y="2988875"/>
            <a:ext cx="1294663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unknown population</a:t>
            </a:r>
          </a:p>
        </p:txBody>
      </p:sp>
    </p:spTree>
    <p:extLst>
      <p:ext uri="{BB962C8B-B14F-4D97-AF65-F5344CB8AC3E}">
        <p14:creationId xmlns:p14="http://schemas.microsoft.com/office/powerpoint/2010/main" val="37752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6" grpId="0"/>
      <p:bldP spid="19" grpId="0"/>
      <p:bldP spid="20" grpId="0"/>
      <p:bldP spid="38" grpId="0"/>
      <p:bldP spid="39" grpId="0" animBg="1"/>
      <p:bldP spid="40" grpId="0" animBg="1"/>
      <p:bldP spid="43" grpId="0" animBg="1"/>
      <p:bldP spid="44" grpId="0" animBg="1"/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C340-135E-F62D-1ABB-E62DF820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for Reducing Generalization 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95F64-D9F0-D8D7-073E-AA84E714A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21E97-7037-CB42-572C-D8209E13B63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13</a:t>
            </a:fld>
            <a:endParaRPr lang="en-US" altLang="en-US" baseline="0"/>
          </a:p>
        </p:txBody>
      </p:sp>
      <p:sp>
        <p:nvSpPr>
          <p:cNvPr id="12" name="Curved Up Arrow 11">
            <a:extLst>
              <a:ext uri="{FF2B5EF4-FFF2-40B4-BE49-F238E27FC236}">
                <a16:creationId xmlns:a16="http://schemas.microsoft.com/office/drawing/2014/main" id="{ABD5201B-742C-D1F9-364B-5C05869D9438}"/>
              </a:ext>
            </a:extLst>
          </p:cNvPr>
          <p:cNvSpPr/>
          <p:nvPr/>
        </p:nvSpPr>
        <p:spPr>
          <a:xfrm flipH="1" flipV="1">
            <a:off x="247322" y="2051435"/>
            <a:ext cx="8037093" cy="1247531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Curved Up Arrow 13">
            <a:extLst>
              <a:ext uri="{FF2B5EF4-FFF2-40B4-BE49-F238E27FC236}">
                <a16:creationId xmlns:a16="http://schemas.microsoft.com/office/drawing/2014/main" id="{2610CDFC-1FF5-31BA-2891-56E036D9B8BA}"/>
              </a:ext>
            </a:extLst>
          </p:cNvPr>
          <p:cNvSpPr/>
          <p:nvPr/>
        </p:nvSpPr>
        <p:spPr>
          <a:xfrm flipH="1" flipV="1">
            <a:off x="3059493" y="2416093"/>
            <a:ext cx="5224923" cy="955515"/>
          </a:xfrm>
          <a:prstGeom prst="curvedUpArrow">
            <a:avLst/>
          </a:prstGeom>
          <a:solidFill>
            <a:srgbClr val="A6E290"/>
          </a:solidFill>
          <a:ln>
            <a:solidFill>
              <a:srgbClr val="A6E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E62BCA-3EE8-D0FB-86DA-D9DB00D394AE}"/>
              </a:ext>
            </a:extLst>
          </p:cNvPr>
          <p:cNvSpPr txBox="1"/>
          <p:nvPr/>
        </p:nvSpPr>
        <p:spPr>
          <a:xfrm>
            <a:off x="3609199" y="2893850"/>
            <a:ext cx="112082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A6E290"/>
                </a:solidFill>
              </a:rPr>
              <a:t>fits well</a:t>
            </a:r>
            <a:endParaRPr lang="en-US" b="1" dirty="0">
              <a:solidFill>
                <a:srgbClr val="A6E29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5CE22D-238F-C6C6-6CF5-E9D4EB618BE4}"/>
              </a:ext>
            </a:extLst>
          </p:cNvPr>
          <p:cNvSpPr/>
          <p:nvPr/>
        </p:nvSpPr>
        <p:spPr>
          <a:xfrm>
            <a:off x="946887" y="2983480"/>
            <a:ext cx="13131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rved Up Arrow 19">
            <a:extLst>
              <a:ext uri="{FF2B5EF4-FFF2-40B4-BE49-F238E27FC236}">
                <a16:creationId xmlns:a16="http://schemas.microsoft.com/office/drawing/2014/main" id="{BA42469D-1193-6233-6D3D-BD138B60150A}"/>
              </a:ext>
            </a:extLst>
          </p:cNvPr>
          <p:cNvSpPr/>
          <p:nvPr/>
        </p:nvSpPr>
        <p:spPr>
          <a:xfrm flipH="1" flipV="1">
            <a:off x="247322" y="2051435"/>
            <a:ext cx="8037093" cy="1247531"/>
          </a:xfrm>
          <a:prstGeom prst="curvedUpArrow">
            <a:avLst/>
          </a:prstGeom>
          <a:solidFill>
            <a:srgbClr val="88C07C"/>
          </a:solidFill>
          <a:ln>
            <a:solidFill>
              <a:srgbClr val="88C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8C07C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E0CF8-B300-A42A-817B-6B6963BCE17A}"/>
              </a:ext>
            </a:extLst>
          </p:cNvPr>
          <p:cNvSpPr txBox="1"/>
          <p:nvPr/>
        </p:nvSpPr>
        <p:spPr>
          <a:xfrm>
            <a:off x="1066800" y="1720268"/>
            <a:ext cx="3985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8C07C"/>
                </a:solidFill>
              </a:rPr>
              <a:t>Guarantee generalization error</a:t>
            </a:r>
            <a:endParaRPr lang="en-US" b="1" dirty="0">
              <a:solidFill>
                <a:srgbClr val="88C07C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2F2C-76BC-D3A5-24A7-3B3E95F7D9EA}"/>
              </a:ext>
            </a:extLst>
          </p:cNvPr>
          <p:cNvSpPr/>
          <p:nvPr/>
        </p:nvSpPr>
        <p:spPr>
          <a:xfrm>
            <a:off x="5497274" y="496420"/>
            <a:ext cx="3646726" cy="1569660"/>
          </a:xfrm>
          <a:prstGeom prst="rect">
            <a:avLst/>
          </a:prstGeom>
          <a:solidFill>
            <a:srgbClr val="A6E290">
              <a:alpha val="55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Laplace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1E6D0B-27A7-7BE3-7853-60B5EE8CDA9C}"/>
              </a:ext>
            </a:extLst>
          </p:cNvPr>
          <p:cNvCxnSpPr>
            <a:cxnSpLocks/>
          </p:cNvCxnSpPr>
          <p:nvPr/>
        </p:nvCxnSpPr>
        <p:spPr>
          <a:xfrm flipH="1">
            <a:off x="5330181" y="2365576"/>
            <a:ext cx="1795709" cy="1023807"/>
          </a:xfrm>
          <a:prstGeom prst="straightConnector1">
            <a:avLst/>
          </a:prstGeom>
          <a:ln w="206375">
            <a:solidFill>
              <a:srgbClr val="A6E29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345B017-B184-C5D5-4D7B-293896886721}"/>
              </a:ext>
            </a:extLst>
          </p:cNvPr>
          <p:cNvSpPr txBox="1"/>
          <p:nvPr/>
        </p:nvSpPr>
        <p:spPr>
          <a:xfrm>
            <a:off x="271198" y="5482546"/>
            <a:ext cx="834627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3000" b="1" dirty="0">
                <a:solidFill>
                  <a:srgbClr val="00206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Guarantee will </a:t>
            </a: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lose</a:t>
            </a:r>
            <a:r>
              <a:rPr lang="en-US" altLang="zh-CN" sz="3000" b="1" dirty="0">
                <a:solidFill>
                  <a:srgbClr val="002060"/>
                </a:solidFill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in multiple adaptive queries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50C758-74E8-E6AA-40D2-43740B0B3E4D}"/>
              </a:ext>
            </a:extLst>
          </p:cNvPr>
          <p:cNvSpPr txBox="1"/>
          <p:nvPr/>
        </p:nvSpPr>
        <p:spPr>
          <a:xfrm>
            <a:off x="3966462" y="4725255"/>
            <a:ext cx="28554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Data</a:t>
            </a:r>
            <a:r>
              <a:rPr lang="zh-CN" altLang="en-US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Analysis</a:t>
            </a:r>
            <a:endParaRPr lang="en-US" altLang="zh-CN" sz="2000" b="1" dirty="0">
              <a:solidFill>
                <a:srgbClr val="C00000"/>
              </a:solidFill>
              <a:latin typeface="Times" pitchFamily="2" charset="0"/>
              <a:ea typeface="Arial" charset="0"/>
              <a:cs typeface="Arial" charset="0"/>
            </a:endParaRP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C4E65F67-38D5-355C-82C8-44F08D9F76B9}"/>
              </a:ext>
            </a:extLst>
          </p:cNvPr>
          <p:cNvSpPr/>
          <p:nvPr/>
        </p:nvSpPr>
        <p:spPr>
          <a:xfrm>
            <a:off x="1660137" y="3955365"/>
            <a:ext cx="1148610" cy="525861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" pitchFamily="2" charset="0"/>
              </a:rPr>
              <a:t>sample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D4F7B7-2843-3BE4-B014-3449109283B0}"/>
              </a:ext>
            </a:extLst>
          </p:cNvPr>
          <p:cNvSpPr/>
          <p:nvPr/>
        </p:nvSpPr>
        <p:spPr>
          <a:xfrm>
            <a:off x="3002988" y="3427735"/>
            <a:ext cx="963474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data set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X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6FCCBC-65F9-75AE-960F-C7F29F2A8C2A}"/>
              </a:ext>
            </a:extLst>
          </p:cNvPr>
          <p:cNvSpPr/>
          <p:nvPr/>
        </p:nvSpPr>
        <p:spPr>
          <a:xfrm>
            <a:off x="7411107" y="3466567"/>
            <a:ext cx="1206361" cy="1636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analysis result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8D27DF5-E76F-373E-A03C-907055F38A29}"/>
              </a:ext>
            </a:extLst>
          </p:cNvPr>
          <p:cNvSpPr/>
          <p:nvPr/>
        </p:nvSpPr>
        <p:spPr>
          <a:xfrm>
            <a:off x="4195158" y="3557794"/>
            <a:ext cx="3026426" cy="1454123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Times" pitchFamily="2" charset="0"/>
              </a:rPr>
              <a:t>Combination of multiple queries over 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9B713-579D-5E79-1CCC-842FFDB2030F}"/>
              </a:ext>
            </a:extLst>
          </p:cNvPr>
          <p:cNvSpPr/>
          <p:nvPr/>
        </p:nvSpPr>
        <p:spPr>
          <a:xfrm>
            <a:off x="244348" y="3421502"/>
            <a:ext cx="1294663" cy="1617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" pitchFamily="2" charset="0"/>
              </a:rPr>
              <a:t>unknown population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6AD559-96CC-B1AF-6565-99920DB9EF3B}"/>
              </a:ext>
            </a:extLst>
          </p:cNvPr>
          <p:cNvSpPr txBox="1"/>
          <p:nvPr/>
        </p:nvSpPr>
        <p:spPr>
          <a:xfrm>
            <a:off x="3985191" y="3395253"/>
            <a:ext cx="28554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" pitchFamily="2" charset="0"/>
                <a:ea typeface="Arial" charset="0"/>
                <a:cs typeface="Arial" charset="0"/>
              </a:rPr>
              <a:t>Mechanisms</a:t>
            </a:r>
            <a:endParaRPr lang="en-US" altLang="zh-CN" sz="2000" b="1" dirty="0">
              <a:solidFill>
                <a:srgbClr val="C00000"/>
              </a:solidFill>
              <a:latin typeface="Times" pitchFamily="2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80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/>
      <p:bldP spid="19" grpId="0" animBg="1"/>
      <p:bldP spid="20" grpId="0" animBg="1"/>
      <p:bldP spid="21" grpId="0"/>
      <p:bldP spid="22" grpId="0" animBg="1"/>
      <p:bldP spid="47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86F8-E613-A517-7487-7CB0F667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Guarantee on Generalization Errors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96E4D-DB3B-A612-F3D8-FFA4F747CB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130ED-C4FB-7C49-5617-41F0E8ADCBF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14</a:t>
            </a:fld>
            <a:endParaRPr lang="en-US" altLang="en-US" baseline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5D6C8F-EF35-DE9C-7E8F-E0F9DE43B481}"/>
              </a:ext>
            </a:extLst>
          </p:cNvPr>
          <p:cNvGrpSpPr/>
          <p:nvPr/>
        </p:nvGrpSpPr>
        <p:grpSpPr>
          <a:xfrm>
            <a:off x="1295400" y="1943100"/>
            <a:ext cx="1752600" cy="1052239"/>
            <a:chOff x="1295400" y="1943100"/>
            <a:chExt cx="1752600" cy="105223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16EC9E-6622-856A-4FC8-B87A555C0EC4}"/>
                </a:ext>
              </a:extLst>
            </p:cNvPr>
            <p:cNvSpPr/>
            <p:nvPr/>
          </p:nvSpPr>
          <p:spPr>
            <a:xfrm>
              <a:off x="1295400" y="1943100"/>
              <a:ext cx="1752600" cy="94390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" pitchFamily="2" charset="0"/>
                </a:rPr>
                <a:t>Sample</a:t>
              </a:r>
              <a:r>
                <a:rPr lang="en-US" sz="2000" b="1" dirty="0">
                  <a:solidFill>
                    <a:srgbClr val="C00000"/>
                  </a:solidFill>
                  <a:latin typeface="Courier" pitchFamily="2" charset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377C609-ABCF-066D-BD5B-22AF6C40C29E}"/>
                    </a:ext>
                  </a:extLst>
                </p:cNvPr>
                <p:cNvSpPr/>
                <p:nvPr/>
              </p:nvSpPr>
              <p:spPr>
                <a:xfrm>
                  <a:off x="1949524" y="2533674"/>
                  <a:ext cx="44435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EC47B41D-9301-4E4F-9745-7382A0013E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9524" y="2533674"/>
                  <a:ext cx="444352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AA0FFA-FE15-D4DF-25BA-5F43151A4EB0}"/>
              </a:ext>
            </a:extLst>
          </p:cNvPr>
          <p:cNvGrpSpPr/>
          <p:nvPr/>
        </p:nvGrpSpPr>
        <p:grpSpPr>
          <a:xfrm>
            <a:off x="4419600" y="1866900"/>
            <a:ext cx="3962397" cy="1143000"/>
            <a:chOff x="4419600" y="1866900"/>
            <a:chExt cx="3962397" cy="1143000"/>
          </a:xfrm>
        </p:grpSpPr>
        <p:sp>
          <p:nvSpPr>
            <p:cNvPr id="10" name="Cloud 9">
              <a:extLst>
                <a:ext uri="{FF2B5EF4-FFF2-40B4-BE49-F238E27FC236}">
                  <a16:creationId xmlns:a16="http://schemas.microsoft.com/office/drawing/2014/main" id="{F7B98174-014C-F6BD-0213-EE73B963D396}"/>
                </a:ext>
              </a:extLst>
            </p:cNvPr>
            <p:cNvSpPr/>
            <p:nvPr/>
          </p:nvSpPr>
          <p:spPr bwMode="auto">
            <a:xfrm>
              <a:off x="4419600" y="1866900"/>
              <a:ext cx="3962397" cy="1143000"/>
            </a:xfrm>
            <a:prstGeom prst="cloud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600" b="1" dirty="0">
                  <a:latin typeface="Courier" pitchFamily="2" charset="0"/>
                </a:rPr>
                <a:t>Distribution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B371E04-CDF2-FEE1-2E92-DDED1F829F50}"/>
                    </a:ext>
                  </a:extLst>
                </p:cNvPr>
                <p:cNvSpPr/>
                <p:nvPr/>
              </p:nvSpPr>
              <p:spPr>
                <a:xfrm>
                  <a:off x="6160187" y="2502827"/>
                  <a:ext cx="48122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8823FD1-E144-314A-A11D-E8173CCCBB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0187" y="2502827"/>
                  <a:ext cx="481221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9B228F-17F7-0BB5-E320-B165FB271656}"/>
                  </a:ext>
                </a:extLst>
              </p:cNvPr>
              <p:cNvSpPr/>
              <p:nvPr/>
            </p:nvSpPr>
            <p:spPr>
              <a:xfrm>
                <a:off x="1728309" y="3015918"/>
                <a:ext cx="8867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E9B228F-17F7-0BB5-E320-B165FB271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309" y="3015918"/>
                <a:ext cx="886781" cy="461665"/>
              </a:xfrm>
              <a:prstGeom prst="rect">
                <a:avLst/>
              </a:prstGeom>
              <a:blipFill>
                <a:blip r:embed="rId6"/>
                <a:stretch>
                  <a:fillRect r="-142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B277F98-E599-6975-31B1-283DC40C0FCC}"/>
                  </a:ext>
                </a:extLst>
              </p:cNvPr>
              <p:cNvSpPr/>
              <p:nvPr/>
            </p:nvSpPr>
            <p:spPr>
              <a:xfrm>
                <a:off x="5957406" y="3015918"/>
                <a:ext cx="9236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B277F98-E599-6975-31B1-283DC40C0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406" y="3015918"/>
                <a:ext cx="923650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9C5FF1-A747-1CCA-B502-AD36FAF2960F}"/>
                  </a:ext>
                </a:extLst>
              </p:cNvPr>
              <p:cNvSpPr/>
              <p:nvPr/>
            </p:nvSpPr>
            <p:spPr>
              <a:xfrm>
                <a:off x="3744190" y="2887009"/>
                <a:ext cx="692818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US" sz="4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9C5FF1-A747-1CCA-B502-AD36FAF29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190" y="2887009"/>
                <a:ext cx="692818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109689-B1C6-9584-F07A-13B39D16CEB3}"/>
                  </a:ext>
                </a:extLst>
              </p:cNvPr>
              <p:cNvSpPr/>
              <p:nvPr/>
            </p:nvSpPr>
            <p:spPr>
              <a:xfrm>
                <a:off x="2279381" y="3770169"/>
                <a:ext cx="3880806" cy="6449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type m:val="skw"/>
                          <m:ctrlP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109689-B1C6-9584-F07A-13B39D16C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381" y="3770169"/>
                <a:ext cx="3880806" cy="644920"/>
              </a:xfrm>
              <a:prstGeom prst="rect">
                <a:avLst/>
              </a:prstGeom>
              <a:blipFill>
                <a:blip r:embed="rId9"/>
                <a:stretch>
                  <a:fillRect t="-100000" r="-5212" b="-16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9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EBA2-1CBC-C3BA-1B91-65E66B31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Guarantee on Generalization Errors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/>
              <a:t>in Adaptive Data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CF7CB-ECD0-90EB-38CD-3FD5F881CC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 eaLnBrk="1" hangingPunct="1">
                  <a:buClr>
                    <a:srgbClr val="CC0000"/>
                  </a:buClr>
                </a:pPr>
                <a:r>
                  <a:rPr lang="en-US" altLang="zh-CN" dirty="0"/>
                  <a:t>Generalization Errors </a:t>
                </a:r>
              </a:p>
              <a:p>
                <a:pPr lvl="2" eaLnBrk="1" hangingPunct="1">
                  <a:buClr>
                    <a:srgbClr val="CC0000"/>
                  </a:buClr>
                </a:pP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nonadaptive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en-US" sz="16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en-US" sz="1600" dirty="0"/>
              </a:p>
              <a:p>
                <a:pPr lvl="2" eaLnBrk="1" hangingPunct="1">
                  <a:buClr>
                    <a:srgbClr val="CC0000"/>
                  </a:buClr>
                </a:pP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zh-CN" sz="1600" dirty="0"/>
              </a:p>
              <a:p>
                <a:pPr lvl="1" eaLnBrk="1" hangingPunct="1">
                  <a:buClr>
                    <a:srgbClr val="CC0000"/>
                  </a:buClr>
                </a:pPr>
                <a:r>
                  <a:rPr lang="en-US" altLang="zh-CN" dirty="0"/>
                  <a:t>Generalization Errors with Mechanisms</a:t>
                </a:r>
              </a:p>
              <a:p>
                <a:pPr lvl="2" eaLnBrk="1" hangingPunct="1">
                  <a:buClr>
                    <a:srgbClr val="CC0000"/>
                  </a:buClr>
                </a:pPr>
                <a:r>
                  <a:rPr lang="en-US" altLang="zh-CN" dirty="0"/>
                  <a:t>Data Splitting  -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dirty="0"/>
                  <a:t> 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ctrlPr>
                                      <a:rPr lang="en-US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en-US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zh-CN" dirty="0"/>
              </a:p>
              <a:p>
                <a:pPr lvl="2" eaLnBrk="1" hangingPunct="1">
                  <a:buClr>
                    <a:srgbClr val="CC0000"/>
                  </a:buClr>
                </a:pPr>
                <a:r>
                  <a:rPr lang="en-US" altLang="zh-CN" dirty="0"/>
                  <a:t>Gaussian Mechanism:</a:t>
                </a:r>
              </a:p>
              <a:p>
                <a:pPr lvl="3" eaLnBrk="1" hangingPunct="1">
                  <a:buClr>
                    <a:srgbClr val="CC0000"/>
                  </a:buClr>
                </a:pPr>
                <a:r>
                  <a:rPr lang="en-US" altLang="en-US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g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3" eaLnBrk="1" hangingPunct="1">
                  <a:buClr>
                    <a:srgbClr val="CC0000"/>
                  </a:buClr>
                </a:pP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sz="1600" dirty="0"/>
                  <a:t> adaptive and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nonadaptive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en-US" sz="16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CF7CB-ECD0-90EB-38CD-3FD5F881C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C65B9-9AAE-521F-7A14-E9882632CC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5BCE0-8C28-1707-351C-BA494FD81D6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83988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5174-6FC9-4685-3877-298F12F44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Analyzing the Adaptive Data Analysis Program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BBA59-811A-0D80-F282-3A5F9FF899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923E9-F6B1-0FDA-8AF2-76C4051999A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16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69EEE9-34A3-ACEE-F303-5BA5C52D0C21}"/>
                  </a:ext>
                </a:extLst>
              </p:cNvPr>
              <p:cNvSpPr/>
              <p:nvPr/>
            </p:nvSpPr>
            <p:spPr>
              <a:xfrm>
                <a:off x="1066800" y="2057400"/>
                <a:ext cx="6781800" cy="647700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Generalization error ~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B69EEE9-34A3-ACEE-F303-5BA5C52D0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57400"/>
                <a:ext cx="6781800" cy="647700"/>
              </a:xfrm>
              <a:prstGeom prst="rect">
                <a:avLst/>
              </a:prstGeom>
              <a:blipFill>
                <a:blip r:embed="rId2"/>
                <a:stretch>
                  <a:fillRect b="-15094"/>
                </a:stretch>
              </a:blip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CBF43F5-4C23-E8B1-97E8-49C19A81C47F}"/>
              </a:ext>
            </a:extLst>
          </p:cNvPr>
          <p:cNvSpPr/>
          <p:nvPr/>
        </p:nvSpPr>
        <p:spPr>
          <a:xfrm>
            <a:off x="316816" y="4236717"/>
            <a:ext cx="2362200" cy="6477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Algorithm</a:t>
            </a:r>
            <a:endParaRPr lang="en-US" sz="18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351F3-5B6E-2D0F-B714-974D429D32C8}"/>
              </a:ext>
            </a:extLst>
          </p:cNvPr>
          <p:cNvSpPr/>
          <p:nvPr/>
        </p:nvSpPr>
        <p:spPr>
          <a:xfrm>
            <a:off x="5922162" y="4236717"/>
            <a:ext cx="2362200" cy="6477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program</a:t>
            </a:r>
            <a:endParaRPr lang="en-US" sz="18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9C3BB9-DFE9-FD38-305E-410011AD2B2F}"/>
              </a:ext>
            </a:extLst>
          </p:cNvPr>
          <p:cNvCxnSpPr>
            <a:stCxn id="7" idx="0"/>
            <a:endCxn id="6" idx="2"/>
          </p:cNvCxnSpPr>
          <p:nvPr/>
        </p:nvCxnSpPr>
        <p:spPr bwMode="auto">
          <a:xfrm flipV="1">
            <a:off x="1497916" y="2705100"/>
            <a:ext cx="2959784" cy="15316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516766-0D3C-0F24-C839-5E4B07BBC586}"/>
              </a:ext>
            </a:extLst>
          </p:cNvPr>
          <p:cNvCxnSpPr>
            <a:stCxn id="7" idx="3"/>
            <a:endCxn id="8" idx="1"/>
          </p:cNvCxnSpPr>
          <p:nvPr/>
        </p:nvCxnSpPr>
        <p:spPr bwMode="auto">
          <a:xfrm>
            <a:off x="2679016" y="4560567"/>
            <a:ext cx="324314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37BE7A-B1A8-A73B-DC4E-24EA7DB55831}"/>
              </a:ext>
            </a:extLst>
          </p:cNvPr>
          <p:cNvSpPr/>
          <p:nvPr/>
        </p:nvSpPr>
        <p:spPr>
          <a:xfrm>
            <a:off x="2955011" y="4167810"/>
            <a:ext cx="2765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implementation</a:t>
            </a:r>
            <a:endParaRPr lang="en-US" sz="18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D4DDC0-B9A8-EBB6-821D-A25680845ADB}"/>
              </a:ext>
            </a:extLst>
          </p:cNvPr>
          <p:cNvSpPr/>
          <p:nvPr/>
        </p:nvSpPr>
        <p:spPr>
          <a:xfrm>
            <a:off x="959399" y="3128037"/>
            <a:ext cx="29770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Courier" pitchFamily="2" charset="0"/>
              </a:rPr>
              <a:t>Theory proofs</a:t>
            </a:r>
            <a:endParaRPr lang="en-US" sz="20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6905C0-8631-45BA-AEFA-7AF4DDB7E881}"/>
              </a:ext>
            </a:extLst>
          </p:cNvPr>
          <p:cNvCxnSpPr>
            <a:stCxn id="8" idx="0"/>
            <a:endCxn id="6" idx="2"/>
          </p:cNvCxnSpPr>
          <p:nvPr/>
        </p:nvCxnSpPr>
        <p:spPr bwMode="auto">
          <a:xfrm flipH="1" flipV="1">
            <a:off x="4457700" y="2705100"/>
            <a:ext cx="2645562" cy="15316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C3164-CEF6-F8D7-0246-73FF98399FE2}"/>
              </a:ext>
            </a:extLst>
          </p:cNvPr>
          <p:cNvSpPr/>
          <p:nvPr/>
        </p:nvSpPr>
        <p:spPr>
          <a:xfrm>
            <a:off x="4947308" y="2889824"/>
            <a:ext cx="30378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Courier" pitchFamily="2" charset="0"/>
              </a:rPr>
              <a:t>Formal Verification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latin typeface="Courier" pitchFamily="2" charset="0"/>
              </a:rPr>
              <a:t>or Analysis</a:t>
            </a:r>
            <a:endParaRPr lang="en-US" sz="20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2D62D3-1753-5C42-8BDF-99D20A2565C8}"/>
              </a:ext>
            </a:extLst>
          </p:cNvPr>
          <p:cNvSpPr/>
          <p:nvPr/>
        </p:nvSpPr>
        <p:spPr>
          <a:xfrm>
            <a:off x="6119802" y="2812392"/>
            <a:ext cx="69281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  <a:latin typeface="Courier" pitchFamily="2" charset="0"/>
              </a:rPr>
              <a:t>?</a:t>
            </a:r>
            <a:endParaRPr lang="en-US" sz="5400" b="1" dirty="0">
              <a:solidFill>
                <a:srgbClr val="C0000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72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2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7377-AAF7-682C-FA20-F55CDA51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Analysis Program’s Adaptivity Rounds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45A0D-E61F-C956-6A2D-9ACB4FCAA9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CC901-DB2D-32EB-4E36-046F6B3B87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17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C1E6B7-AF87-AF13-23B7-09C3EC7C612D}"/>
                  </a:ext>
                </a:extLst>
              </p:cNvPr>
              <p:cNvSpPr/>
              <p:nvPr/>
            </p:nvSpPr>
            <p:spPr>
              <a:xfrm>
                <a:off x="990600" y="1577396"/>
                <a:ext cx="6781800" cy="647700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Generalization error: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4C1E6B7-AF87-AF13-23B7-09C3EC7C6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77396"/>
                <a:ext cx="6781800" cy="647700"/>
              </a:xfrm>
              <a:prstGeom prst="rect">
                <a:avLst/>
              </a:prstGeom>
              <a:blipFill>
                <a:blip r:embed="rId2"/>
                <a:stretch>
                  <a:fillRect l="-560" b="-16981"/>
                </a:stretch>
              </a:blip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78398A6-00C4-D32D-51D2-5088B24D6341}"/>
              </a:ext>
            </a:extLst>
          </p:cNvPr>
          <p:cNvSpPr/>
          <p:nvPr/>
        </p:nvSpPr>
        <p:spPr bwMode="auto">
          <a:xfrm>
            <a:off x="6248401" y="1697331"/>
            <a:ext cx="762000" cy="415059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Osaka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29AEBA-6EC6-D17D-EEE1-9198E9B96DBF}"/>
              </a:ext>
            </a:extLst>
          </p:cNvPr>
          <p:cNvSpPr/>
          <p:nvPr/>
        </p:nvSpPr>
        <p:spPr bwMode="auto">
          <a:xfrm>
            <a:off x="7125024" y="1703915"/>
            <a:ext cx="266376" cy="415059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Osak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B9122D3-EB1A-7E42-4559-74E5FE4CD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479" y="2504673"/>
                <a:ext cx="7924800" cy="2746954"/>
              </a:xfrm>
            </p:spPr>
            <p:txBody>
              <a:bodyPr/>
              <a:lstStyle/>
              <a:p>
                <a:pPr lvl="1" eaLnBrk="1" hangingPunct="1">
                  <a:buClr>
                    <a:srgbClr val="CC0000"/>
                  </a:buClr>
                </a:pPr>
                <a:endParaRPr lang="en-US" altLang="zh-CN" sz="1600" dirty="0"/>
              </a:p>
              <a:p>
                <a:pPr lvl="1" eaLnBrk="1" hangingPunct="1">
                  <a:buClr>
                    <a:srgbClr val="CC0000"/>
                  </a:buClr>
                </a:pPr>
                <a:r>
                  <a:rPr lang="en-US" altLang="zh-CN" dirty="0"/>
                  <a:t>Generalization Errors with Mechanisms</a:t>
                </a:r>
              </a:p>
              <a:p>
                <a:pPr lvl="2" eaLnBrk="1" hangingPunct="1">
                  <a:buClr>
                    <a:srgbClr val="CC0000"/>
                  </a:buClr>
                </a:pPr>
                <a:r>
                  <a:rPr lang="en-US" altLang="zh-CN" dirty="0"/>
                  <a:t>Data Splitting  -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dirty="0"/>
                  <a:t> 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ctrlPr>
                                      <a:rPr lang="en-US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en-US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zh-CN" dirty="0"/>
              </a:p>
              <a:p>
                <a:pPr lvl="2" eaLnBrk="1" hangingPunct="1">
                  <a:buClr>
                    <a:srgbClr val="CC0000"/>
                  </a:buClr>
                </a:pPr>
                <a:r>
                  <a:rPr lang="en-US" altLang="zh-CN" dirty="0"/>
                  <a:t>Gaussian Mechanism:</a:t>
                </a:r>
              </a:p>
              <a:p>
                <a:pPr lvl="3" eaLnBrk="1" hangingPunct="1">
                  <a:buClr>
                    <a:srgbClr val="CC0000"/>
                  </a:buClr>
                </a:pPr>
                <a:r>
                  <a:rPr lang="en-US" altLang="en-US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g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3" eaLnBrk="1" hangingPunct="1">
                  <a:buClr>
                    <a:srgbClr val="CC0000"/>
                  </a:buClr>
                </a:pP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sz="1600" dirty="0"/>
                  <a:t> adaptive and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600" dirty="0"/>
                  <a:t> nonadaptive queries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en-US" sz="16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en-US" sz="16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B9122D3-EB1A-7E42-4559-74E5FE4CD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479" y="2504673"/>
                <a:ext cx="7924800" cy="274695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05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2038-92C1-8174-1FAA-C2876010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Analysis Program’s Adaptivity Rounds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1E3D7-93E2-CE9A-27CE-EA38959D72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E6727-BB64-9D27-E8C2-2CCFD1C8EA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18</a:t>
            </a:fld>
            <a:endParaRPr lang="en-US" altLang="en-US" baseline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B82A98-B38B-A312-831A-51DAF5625BD9}"/>
              </a:ext>
            </a:extLst>
          </p:cNvPr>
          <p:cNvSpPr/>
          <p:nvPr/>
        </p:nvSpPr>
        <p:spPr>
          <a:xfrm>
            <a:off x="183095" y="1371912"/>
            <a:ext cx="1874306" cy="7616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Adaptivity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08A4A3-97B5-0C88-5F3D-B110B955F3F4}"/>
              </a:ext>
            </a:extLst>
          </p:cNvPr>
          <p:cNvSpPr/>
          <p:nvPr/>
        </p:nvSpPr>
        <p:spPr>
          <a:xfrm>
            <a:off x="2256153" y="1916152"/>
            <a:ext cx="3996556" cy="566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apply mechanisms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1C589A-9DA1-88EB-A6D6-1F14094A78C6}"/>
              </a:ext>
            </a:extLst>
          </p:cNvPr>
          <p:cNvSpPr/>
          <p:nvPr/>
        </p:nvSpPr>
        <p:spPr>
          <a:xfrm>
            <a:off x="2241285" y="2764462"/>
            <a:ext cx="3996556" cy="566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mechanisms needed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7A487D-3230-998E-63EA-9679A7EB33B5}"/>
              </a:ext>
            </a:extLst>
          </p:cNvPr>
          <p:cNvSpPr/>
          <p:nvPr/>
        </p:nvSpPr>
        <p:spPr>
          <a:xfrm>
            <a:off x="2248719" y="3609985"/>
            <a:ext cx="3996556" cy="566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or intense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E951F6-88B8-0DB2-F331-2FA3293E5986}"/>
              </a:ext>
            </a:extLst>
          </p:cNvPr>
          <p:cNvSpPr/>
          <p:nvPr/>
        </p:nvSpPr>
        <p:spPr>
          <a:xfrm>
            <a:off x="2241285" y="4455508"/>
            <a:ext cx="3996556" cy="4993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BCEC9D-229C-1311-9F34-04CD306E74CE}"/>
              </a:ext>
            </a:extLst>
          </p:cNvPr>
          <p:cNvSpPr/>
          <p:nvPr/>
        </p:nvSpPr>
        <p:spPr>
          <a:xfrm>
            <a:off x="6553200" y="4702125"/>
            <a:ext cx="2514600" cy="12779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 Generalization Error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6DD88A3-BD7B-59D5-7950-12A97A08AFB2}"/>
              </a:ext>
            </a:extLst>
          </p:cNvPr>
          <p:cNvCxnSpPr/>
          <p:nvPr/>
        </p:nvCxnSpPr>
        <p:spPr bwMode="auto">
          <a:xfrm>
            <a:off x="6553200" y="4217032"/>
            <a:ext cx="61970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719690-1AAC-BDE2-A185-371EE96C6DA1}"/>
              </a:ext>
            </a:extLst>
          </p:cNvPr>
          <p:cNvCxnSpPr/>
          <p:nvPr/>
        </p:nvCxnSpPr>
        <p:spPr bwMode="auto">
          <a:xfrm>
            <a:off x="2209800" y="1752600"/>
            <a:ext cx="59802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0874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B09C-A1B7-D64E-A95E-DF2526E9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Analysis Adaptivity Quantity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25DE0-9802-4B4B-92EF-6EC81CFA50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09A77-B3C2-A745-84E6-4A3B1873B25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19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2AFC6C-72D0-BC48-95DB-B14E97FCD70A}"/>
                  </a:ext>
                </a:extLst>
              </p:cNvPr>
              <p:cNvSpPr/>
              <p:nvPr/>
            </p:nvSpPr>
            <p:spPr>
              <a:xfrm>
                <a:off x="914400" y="1981200"/>
                <a:ext cx="6781800" cy="647700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Generalization error ~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  <a:latin typeface="Courier" pitchFamily="2" charset="0"/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2AFC6C-72D0-BC48-95DB-B14E97FCD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81200"/>
                <a:ext cx="6781800" cy="64770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8221F767-3573-5842-A3A8-C6DCB3136484}"/>
              </a:ext>
            </a:extLst>
          </p:cNvPr>
          <p:cNvSpPr/>
          <p:nvPr/>
        </p:nvSpPr>
        <p:spPr bwMode="auto">
          <a:xfrm>
            <a:off x="6401447" y="2099541"/>
            <a:ext cx="608953" cy="415059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Osaka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3DBF6D-B545-5147-9419-907056DE8CCE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 bwMode="auto">
          <a:xfrm flipH="1">
            <a:off x="2671505" y="2514600"/>
            <a:ext cx="4034419" cy="92497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7BF211E-E742-5545-A41D-1A07F4DA8256}"/>
                  </a:ext>
                </a:extLst>
              </p:cNvPr>
              <p:cNvSpPr/>
              <p:nvPr/>
            </p:nvSpPr>
            <p:spPr>
              <a:xfrm>
                <a:off x="797679" y="3439571"/>
                <a:ext cx="3747651" cy="1153569"/>
              </a:xfrm>
              <a:prstGeom prst="rect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data sample size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query numbers</a:t>
                </a:r>
                <a:endParaRPr lang="en-US" sz="2800" b="1" dirty="0">
                  <a:solidFill>
                    <a:srgbClr val="C00000"/>
                  </a:solidFill>
                  <a:latin typeface="Courier" pitchFamily="2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7BF211E-E742-5545-A41D-1A07F4DA8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79" y="3439571"/>
                <a:ext cx="3747651" cy="1153569"/>
              </a:xfrm>
              <a:prstGeom prst="rect">
                <a:avLst/>
              </a:prstGeom>
              <a:blipFill>
                <a:blip r:embed="rId4"/>
                <a:stretch>
                  <a:fillRect b="-2151"/>
                </a:stretch>
              </a:blipFill>
              <a:ln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FD82C29-E394-8841-B408-C112C3294468}"/>
              </a:ext>
            </a:extLst>
          </p:cNvPr>
          <p:cNvSpPr/>
          <p:nvPr/>
        </p:nvSpPr>
        <p:spPr bwMode="auto">
          <a:xfrm>
            <a:off x="7087247" y="2097520"/>
            <a:ext cx="227953" cy="415059"/>
          </a:xfrm>
          <a:prstGeom prst="rect">
            <a:avLst/>
          </a:prstGeom>
          <a:noFill/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Osaka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A4B1EA-9B60-6B44-B829-6B2DD3D069BE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 bwMode="auto">
          <a:xfrm flipH="1">
            <a:off x="6401447" y="2512579"/>
            <a:ext cx="799777" cy="169945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73226AE-0B0A-7146-9324-EFF9CBEEDBF0}"/>
              </a:ext>
            </a:extLst>
          </p:cNvPr>
          <p:cNvSpPr/>
          <p:nvPr/>
        </p:nvSpPr>
        <p:spPr>
          <a:xfrm>
            <a:off x="4527621" y="4212036"/>
            <a:ext cx="3747651" cy="1153569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query numbers</a:t>
            </a:r>
            <a:endParaRPr lang="en-US" sz="2800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531210-0D40-E54F-817C-241F8901D3E7}"/>
              </a:ext>
            </a:extLst>
          </p:cNvPr>
          <p:cNvSpPr txBox="1"/>
          <p:nvPr/>
        </p:nvSpPr>
        <p:spPr>
          <a:xfrm>
            <a:off x="5911793" y="3158858"/>
            <a:ext cx="1969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C35FE-B18A-B441-9A29-FF5AE4F34C67}"/>
              </a:ext>
            </a:extLst>
          </p:cNvPr>
          <p:cNvSpPr txBox="1"/>
          <p:nvPr/>
        </p:nvSpPr>
        <p:spPr>
          <a:xfrm>
            <a:off x="2971801" y="2715475"/>
            <a:ext cx="2758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Easily Track</a:t>
            </a:r>
          </a:p>
        </p:txBody>
      </p:sp>
    </p:spTree>
    <p:extLst>
      <p:ext uri="{BB962C8B-B14F-4D97-AF65-F5344CB8AC3E}">
        <p14:creationId xmlns:p14="http://schemas.microsoft.com/office/powerpoint/2010/main" val="23026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30" grpId="0" animBg="1"/>
      <p:bldP spid="32" grpId="0" animBg="1"/>
      <p:bldP spid="38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B09C-A1B7-D64E-A95E-DF2526E9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Challenges &amp;. Goals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25DE0-9802-4B4B-92EF-6EC81CFA50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09A77-B3C2-A745-84E6-4A3B1873B25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20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E61A0B4-62BF-07BC-9CBA-2064983C8BC4}"/>
                  </a:ext>
                </a:extLst>
              </p:cNvPr>
              <p:cNvSpPr/>
              <p:nvPr/>
            </p:nvSpPr>
            <p:spPr>
              <a:xfrm>
                <a:off x="2125497" y="1949192"/>
                <a:ext cx="101453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E61A0B4-62BF-07BC-9CBA-2064983C8B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497" y="1949192"/>
                <a:ext cx="1014538" cy="404383"/>
              </a:xfrm>
              <a:prstGeom prst="rect">
                <a:avLst/>
              </a:prstGeom>
              <a:blipFill>
                <a:blip r:embed="rId3"/>
                <a:stretch>
                  <a:fillRect l="-6173" r="-2469" b="-60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A7798B5-B722-334C-E711-69CAE8AB1771}"/>
                  </a:ext>
                </a:extLst>
              </p:cNvPr>
              <p:cNvSpPr/>
              <p:nvPr/>
            </p:nvSpPr>
            <p:spPr>
              <a:xfrm>
                <a:off x="4095406" y="1954554"/>
                <a:ext cx="101453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A7798B5-B722-334C-E711-69CAE8AB17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406" y="1954554"/>
                <a:ext cx="1014538" cy="404383"/>
              </a:xfrm>
              <a:prstGeom prst="rect">
                <a:avLst/>
              </a:prstGeom>
              <a:blipFill>
                <a:blip r:embed="rId4"/>
                <a:stretch>
                  <a:fillRect l="-6173" r="-2469" b="-5882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D310717-6257-37D5-5BB1-92D280891EFA}"/>
                  </a:ext>
                </a:extLst>
              </p:cNvPr>
              <p:cNvSpPr/>
              <p:nvPr/>
            </p:nvSpPr>
            <p:spPr>
              <a:xfrm>
                <a:off x="5618102" y="1949564"/>
                <a:ext cx="1014539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D310717-6257-37D5-5BB1-92D280891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102" y="1949564"/>
                <a:ext cx="1014539" cy="404383"/>
              </a:xfrm>
              <a:prstGeom prst="rect">
                <a:avLst/>
              </a:prstGeom>
              <a:blipFill>
                <a:blip r:embed="rId5"/>
                <a:stretch>
                  <a:fillRect l="-6173" r="-2469" b="-60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80D3986-AB35-A37C-0B69-49C1237DF870}"/>
                  </a:ext>
                </a:extLst>
              </p:cNvPr>
              <p:cNvSpPr/>
              <p:nvPr/>
            </p:nvSpPr>
            <p:spPr>
              <a:xfrm>
                <a:off x="3550577" y="5244389"/>
                <a:ext cx="1583818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,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80D3986-AB35-A37C-0B69-49C1237DF8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77" y="5244389"/>
                <a:ext cx="1583818" cy="404383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CA365FA-C737-E9E6-5E80-74FC6ADFB75F}"/>
                  </a:ext>
                </a:extLst>
              </p:cNvPr>
              <p:cNvSpPr/>
              <p:nvPr/>
            </p:nvSpPr>
            <p:spPr>
              <a:xfrm>
                <a:off x="2665864" y="3025434"/>
                <a:ext cx="1371106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CA365FA-C737-E9E6-5E80-74FC6ADFB7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64" y="3025434"/>
                <a:ext cx="1371106" cy="404383"/>
              </a:xfrm>
              <a:prstGeom prst="rect">
                <a:avLst/>
              </a:prstGeom>
              <a:blipFill>
                <a:blip r:embed="rId7"/>
                <a:stretch>
                  <a:fillRect l="-3636" r="-909" b="-5882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3553F22-DDF5-FFA4-6571-BBCEBCAE58D1}"/>
                  </a:ext>
                </a:extLst>
              </p:cNvPr>
              <p:cNvSpPr/>
              <p:nvPr/>
            </p:nvSpPr>
            <p:spPr>
              <a:xfrm>
                <a:off x="4862690" y="3007597"/>
                <a:ext cx="1508160" cy="404383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𝑞𝑢𝑒𝑟𝑦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      ,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3553F22-DDF5-FFA4-6571-BBCEBCAE5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90" y="3007597"/>
                <a:ext cx="1508160" cy="404383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656663-B149-EB92-CB38-F9A16CD7E4F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790725" y="2353947"/>
            <a:ext cx="334647" cy="878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DBEF14-F10C-AF18-AAFF-EBC3A1BF76EF}"/>
              </a:ext>
            </a:extLst>
          </p:cNvPr>
          <p:cNvCxnSpPr>
            <a:cxnSpLocks/>
          </p:cNvCxnSpPr>
          <p:nvPr/>
        </p:nvCxnSpPr>
        <p:spPr>
          <a:xfrm>
            <a:off x="2577563" y="2343177"/>
            <a:ext cx="984817" cy="878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E794F9-9AE0-93E3-7459-D5A81D338060}"/>
              </a:ext>
            </a:extLst>
          </p:cNvPr>
          <p:cNvCxnSpPr>
            <a:cxnSpLocks/>
          </p:cNvCxnSpPr>
          <p:nvPr/>
        </p:nvCxnSpPr>
        <p:spPr>
          <a:xfrm flipH="1">
            <a:off x="3589777" y="2362202"/>
            <a:ext cx="964776" cy="8499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D056CDD-CEF9-4118-4DF6-6B6FC5143107}"/>
              </a:ext>
            </a:extLst>
          </p:cNvPr>
          <p:cNvSpPr/>
          <p:nvPr/>
        </p:nvSpPr>
        <p:spPr>
          <a:xfrm>
            <a:off x="1904999" y="3944393"/>
            <a:ext cx="976805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8FD98F-B8A1-B9D4-A0D8-9B306EDE6416}"/>
              </a:ext>
            </a:extLst>
          </p:cNvPr>
          <p:cNvSpPr/>
          <p:nvPr/>
        </p:nvSpPr>
        <p:spPr>
          <a:xfrm>
            <a:off x="3627120" y="3972038"/>
            <a:ext cx="890233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233408-039B-C78D-88F6-D7B0B0356A1B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2336774" y="3429817"/>
            <a:ext cx="1014643" cy="6917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013332-AB15-4B23-9D4C-64AC5C5D2C16}"/>
              </a:ext>
            </a:extLst>
          </p:cNvPr>
          <p:cNvCxnSpPr>
            <a:cxnSpLocks/>
          </p:cNvCxnSpPr>
          <p:nvPr/>
        </p:nvCxnSpPr>
        <p:spPr>
          <a:xfrm>
            <a:off x="3402945" y="3420299"/>
            <a:ext cx="670390" cy="701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EFF867B-7A37-151F-5891-D44EF8F31AF1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2393402" y="4348776"/>
            <a:ext cx="2123951" cy="10701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A4E8B22-3B6A-66EF-FE39-0D5142245396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4668139" y="4376421"/>
            <a:ext cx="888526" cy="10274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2084BB-E626-9B46-9076-454595DB8428}"/>
              </a:ext>
            </a:extLst>
          </p:cNvPr>
          <p:cNvCxnSpPr>
            <a:cxnSpLocks/>
          </p:cNvCxnSpPr>
          <p:nvPr/>
        </p:nvCxnSpPr>
        <p:spPr>
          <a:xfrm>
            <a:off x="7239000" y="1949192"/>
            <a:ext cx="0" cy="4070608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B7649E-BC93-E6D1-38E5-A45652F72A3E}"/>
              </a:ext>
            </a:extLst>
          </p:cNvPr>
          <p:cNvCxnSpPr>
            <a:cxnSpLocks/>
          </p:cNvCxnSpPr>
          <p:nvPr/>
        </p:nvCxnSpPr>
        <p:spPr>
          <a:xfrm>
            <a:off x="2362174" y="2431000"/>
            <a:ext cx="0" cy="3110383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DBD810-24EA-9EDC-ABD7-3FE0666DB9F7}"/>
                  </a:ext>
                </a:extLst>
              </p:cNvPr>
              <p:cNvSpPr txBox="1"/>
              <p:nvPr/>
            </p:nvSpPr>
            <p:spPr>
              <a:xfrm>
                <a:off x="1185041" y="3296637"/>
                <a:ext cx="9617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DBD810-24EA-9EDC-ABD7-3FE0666D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041" y="3296637"/>
                <a:ext cx="961745" cy="830997"/>
              </a:xfrm>
              <a:prstGeom prst="rect">
                <a:avLst/>
              </a:prstGeom>
              <a:blipFill>
                <a:blip r:embed="rId9"/>
                <a:stretch>
                  <a:fillRect l="-9211" t="-6061" r="-9211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B7E6986-67B1-5649-D750-E5EC5D874B93}"/>
              </a:ext>
            </a:extLst>
          </p:cNvPr>
          <p:cNvSpPr/>
          <p:nvPr/>
        </p:nvSpPr>
        <p:spPr>
          <a:xfrm>
            <a:off x="5111548" y="3972038"/>
            <a:ext cx="890233" cy="404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…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FC9C07-92CF-464F-0760-165132ABF86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544241" y="3411980"/>
            <a:ext cx="72529" cy="752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3C5D642-6041-F329-F0E1-1CB8DB8299D9}"/>
              </a:ext>
            </a:extLst>
          </p:cNvPr>
          <p:cNvCxnSpPr>
            <a:cxnSpLocks/>
          </p:cNvCxnSpPr>
          <p:nvPr/>
        </p:nvCxnSpPr>
        <p:spPr>
          <a:xfrm flipH="1">
            <a:off x="6114428" y="2412359"/>
            <a:ext cx="6728" cy="3198591"/>
          </a:xfrm>
          <a:prstGeom prst="line">
            <a:avLst/>
          </a:prstGeom>
          <a:ln w="34925">
            <a:solidFill>
              <a:srgbClr val="C0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841A721-088B-72EC-5E2D-77D00837278D}"/>
                  </a:ext>
                </a:extLst>
              </p:cNvPr>
              <p:cNvSpPr txBox="1"/>
              <p:nvPr/>
            </p:nvSpPr>
            <p:spPr>
              <a:xfrm>
                <a:off x="6093614" y="3446021"/>
                <a:ext cx="9617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841A721-088B-72EC-5E2D-77D008372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614" y="3446021"/>
                <a:ext cx="961745" cy="830997"/>
              </a:xfrm>
              <a:prstGeom prst="rect">
                <a:avLst/>
              </a:prstGeom>
              <a:blipFill>
                <a:blip r:embed="rId10"/>
                <a:stretch>
                  <a:fillRect l="-9211" t="-6061" r="-789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2BA9D86-4ABE-7826-6F3E-622DBD85B504}"/>
                  </a:ext>
                </a:extLst>
              </p:cNvPr>
              <p:cNvSpPr txBox="1"/>
              <p:nvPr/>
            </p:nvSpPr>
            <p:spPr>
              <a:xfrm>
                <a:off x="7199853" y="3076689"/>
                <a:ext cx="179704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adaptivity depth</a:t>
                </a:r>
                <a:endParaRPr lang="en-US" altLang="ja-JP" sz="2400" b="1" i="1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𝒎𝒂𝒙</m:t>
                      </m:r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ja-JP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ja-JP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2BA9D86-4ABE-7826-6F3E-622DBD85B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853" y="3076689"/>
                <a:ext cx="1797049" cy="1200329"/>
              </a:xfrm>
              <a:prstGeom prst="rect">
                <a:avLst/>
              </a:prstGeom>
              <a:blipFill>
                <a:blip r:embed="rId11"/>
                <a:stretch>
                  <a:fillRect t="-4211" r="-6294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1F41CDB-A541-6EDD-3243-DB6E1DD1164E}"/>
              </a:ext>
            </a:extLst>
          </p:cNvPr>
          <p:cNvSpPr txBox="1"/>
          <p:nvPr/>
        </p:nvSpPr>
        <p:spPr>
          <a:xfrm>
            <a:off x="122066" y="1908847"/>
            <a:ext cx="42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AA1CCB-40E6-61F9-A1F5-D48FAA3644B3}"/>
              </a:ext>
            </a:extLst>
          </p:cNvPr>
          <p:cNvCxnSpPr>
            <a:cxnSpLocks/>
            <a:stCxn id="46" idx="3"/>
          </p:cNvCxnSpPr>
          <p:nvPr/>
        </p:nvCxnSpPr>
        <p:spPr bwMode="auto">
          <a:xfrm>
            <a:off x="545783" y="2139680"/>
            <a:ext cx="12014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D77C5B-54EF-75DA-FC9A-9B2275F13EEF}"/>
              </a:ext>
            </a:extLst>
          </p:cNvPr>
          <p:cNvSpPr txBox="1"/>
          <p:nvPr/>
        </p:nvSpPr>
        <p:spPr>
          <a:xfrm>
            <a:off x="670371" y="1735139"/>
            <a:ext cx="848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D62677-F7A3-39C0-F1DC-06E687748D1E}"/>
              </a:ext>
            </a:extLst>
          </p:cNvPr>
          <p:cNvSpPr txBox="1"/>
          <p:nvPr/>
        </p:nvSpPr>
        <p:spPr>
          <a:xfrm>
            <a:off x="7694388" y="5378085"/>
            <a:ext cx="11753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CAAA39-02B8-6EBF-BBE9-48FF6D66B997}"/>
              </a:ext>
            </a:extLst>
          </p:cNvPr>
          <p:cNvCxnSpPr>
            <a:cxnSpLocks/>
            <a:endCxn id="49" idx="1"/>
          </p:cNvCxnSpPr>
          <p:nvPr/>
        </p:nvCxnSpPr>
        <p:spPr bwMode="auto">
          <a:xfrm>
            <a:off x="6485451" y="5793584"/>
            <a:ext cx="1208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A9F2933-D064-76F3-E7FC-0D2E637095E7}"/>
              </a:ext>
            </a:extLst>
          </p:cNvPr>
          <p:cNvSpPr txBox="1"/>
          <p:nvPr/>
        </p:nvSpPr>
        <p:spPr>
          <a:xfrm>
            <a:off x="6644967" y="5405518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94640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11D5-65C2-B155-3463-51F87D26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Challenges &amp;.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95309-1744-9ABC-3B31-E1CE29107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 – I : Adaptive Data Analysis Formalization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Query-While Language Design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Challenge – II : Adaptivity Formalization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Execution-Based Adaptivity Analysis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Challenge – III : Adaptivity Estimation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Static Program Adaptivity Analysis	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EB41C-A6EC-8B39-559E-6F50841167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AE0F3-D97D-7A27-149A-EE0F865952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21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669159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FF6A32-AFBC-2F75-E71A-D353EBA0C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Adaptivity Analysis Framework</a:t>
            </a:r>
          </a:p>
        </p:txBody>
      </p:sp>
      <p:pic>
        <p:nvPicPr>
          <p:cNvPr id="5" name="Picture 4" descr="Graphical user interface, application, table&#10;&#10;Description automatically generated with medium confidence">
            <a:extLst>
              <a:ext uri="{FF2B5EF4-FFF2-40B4-BE49-F238E27FC236}">
                <a16:creationId xmlns:a16="http://schemas.microsoft.com/office/drawing/2014/main" id="{2D2EC1CD-0EDF-3406-3D96-4B678C03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3048000"/>
            <a:ext cx="8610600" cy="27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7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Query-While Language Design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23</a:t>
            </a:fld>
            <a:endParaRPr lang="en-US" altLang="en-US" baseline="0"/>
          </a:p>
        </p:txBody>
      </p:sp>
      <p:pic>
        <p:nvPicPr>
          <p:cNvPr id="9" name="Picture 8" descr="A picture containing table&#10;&#10;Description automatically generated">
            <a:extLst>
              <a:ext uri="{FF2B5EF4-FFF2-40B4-BE49-F238E27FC236}">
                <a16:creationId xmlns:a16="http://schemas.microsoft.com/office/drawing/2014/main" id="{62BC58FB-61FB-0B4E-2276-7BE8BB06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479"/>
            <a:ext cx="9144000" cy="330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43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Query-While Language Design – Query Expression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24</a:t>
            </a:fld>
            <a:endParaRPr lang="en-US" altLang="en-US" baseline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316A2C-1D97-793B-36A2-C1132743CC63}"/>
                  </a:ext>
                </a:extLst>
              </p:cNvPr>
              <p:cNvSpPr txBox="1"/>
              <p:nvPr/>
            </p:nvSpPr>
            <p:spPr>
              <a:xfrm>
                <a:off x="608527" y="2057400"/>
                <a:ext cx="7741888" cy="18466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χ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[a] 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values at a certain index a in a row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χ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database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query(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χ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[a]) : computes the average value at certain index a over each row of the database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316A2C-1D97-793B-36A2-C1132743C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27" y="2057400"/>
                <a:ext cx="7741888" cy="1846659"/>
              </a:xfrm>
              <a:prstGeom prst="rect">
                <a:avLst/>
              </a:prstGeom>
              <a:blipFill>
                <a:blip r:embed="rId2"/>
                <a:stretch>
                  <a:fillRect l="-2295" t="-5479" r="-164" b="-8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D14AA89D-985A-B578-7B10-34306DE82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43400"/>
            <a:ext cx="5690396" cy="10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8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Query-While Language Design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Trace-based Semantics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25</a:t>
            </a:fld>
            <a:endParaRPr lang="en-US" altLang="en-US" baseline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1C836F-2FD6-5F65-00BA-667FB5844E98}"/>
              </a:ext>
            </a:extLst>
          </p:cNvPr>
          <p:cNvSpPr txBox="1">
            <a:spLocks/>
          </p:cNvSpPr>
          <p:nvPr/>
        </p:nvSpPr>
        <p:spPr>
          <a:xfrm>
            <a:off x="609600" y="1828800"/>
            <a:ext cx="7924800" cy="3886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Event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4EB401BB-35E6-36EA-88B4-9565264DA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0" y="2438400"/>
            <a:ext cx="6794500" cy="1117600"/>
          </a:xfrm>
          <a:prstGeom prst="rect">
            <a:avLst/>
          </a:prstGeom>
        </p:spPr>
      </p:pic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B71D488F-47CB-070E-37E0-C983518E9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359910"/>
            <a:ext cx="24384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28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Query-While Language Design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Trace-based Semantics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26</a:t>
            </a:fld>
            <a:endParaRPr lang="en-US" altLang="en-US" baseline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1C836F-2FD6-5F65-00BA-667FB5844E98}"/>
              </a:ext>
            </a:extLst>
          </p:cNvPr>
          <p:cNvSpPr txBox="1">
            <a:spLocks/>
          </p:cNvSpPr>
          <p:nvPr/>
        </p:nvSpPr>
        <p:spPr>
          <a:xfrm>
            <a:off x="609600" y="1828800"/>
            <a:ext cx="7924800" cy="3886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Operational Semantics Rules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4710CA-24D7-7095-E602-D5A9880C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2538"/>
            <a:ext cx="9144000" cy="32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99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C37B-45AD-A72E-80BA-0599C951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Evaluation Trace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57664-D53C-2087-621C-B346E53F5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6402F-86CD-B0FC-B025-E7602D08B2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27</a:t>
            </a:fld>
            <a:endParaRPr lang="en-US" altLang="en-US" baseline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935484-E035-6076-F5C5-FBFBD0BAF6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3585" y="3505915"/>
                <a:ext cx="7339330" cy="57404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Evaluation Trace: (initial trace: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2, •)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935484-E035-6076-F5C5-FBFBD0BA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5" y="3505915"/>
                <a:ext cx="7339330" cy="574041"/>
              </a:xfrm>
              <a:prstGeom prst="rect">
                <a:avLst/>
              </a:prstGeom>
              <a:blipFill>
                <a:blip r:embed="rId2"/>
                <a:stretch>
                  <a:fillRect l="-1209" t="-869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letter&#10;&#10;Description automatically generated">
            <a:extLst>
              <a:ext uri="{FF2B5EF4-FFF2-40B4-BE49-F238E27FC236}">
                <a16:creationId xmlns:a16="http://schemas.microsoft.com/office/drawing/2014/main" id="{23C42488-601B-2E37-B783-D86CC2F6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" y="1676400"/>
            <a:ext cx="6540500" cy="1651000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F14C2216-AE7F-5B17-A839-5A5AD6B17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31641"/>
            <a:ext cx="76073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55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Formalization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28</a:t>
            </a:fld>
            <a:endParaRPr lang="en-US" altLang="en-US" baseline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F7255C-F7CC-CFD8-7D62-1CD891937417}"/>
              </a:ext>
            </a:extLst>
          </p:cNvPr>
          <p:cNvSpPr txBox="1">
            <a:spLocks/>
          </p:cNvSpPr>
          <p:nvPr/>
        </p:nvSpPr>
        <p:spPr>
          <a:xfrm>
            <a:off x="609600" y="1828800"/>
            <a:ext cx="7924800" cy="3886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Dependency Relation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Data Dependency Quantity</a:t>
            </a:r>
          </a:p>
          <a:p>
            <a:endParaRPr lang="en-US" dirty="0"/>
          </a:p>
          <a:p>
            <a:r>
              <a:rPr lang="en-US" dirty="0"/>
              <a:t>Adaptivity Definition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40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A028-9F71-C717-C272-1C378591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Dependency 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EB544-1C21-D58F-0663-7429C090E1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pair of labeled variables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</a:t>
                </a:r>
                <a:r>
                  <a:rPr lang="en-US" dirty="0" err="1"/>
                  <a:t>.r.t.</a:t>
                </a:r>
                <a:r>
                  <a:rPr lang="en-US" dirty="0"/>
                  <a:t> an initial trace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dirty="0"/>
                  <a:t>execution trace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rgbClr val="C00000"/>
                    </a:solidFill>
                  </a:rPr>
                  <a:t>change</a:t>
                </a:r>
                <a:r>
                  <a:rPr lang="en-US" dirty="0"/>
                  <a:t> value of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′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rgbClr val="C00000"/>
                    </a:solidFill>
                  </a:rPr>
                  <a:t>execute</a:t>
                </a:r>
                <a:r>
                  <a:rPr lang="en-US" dirty="0"/>
                  <a:t> and obtain another trace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Observe the Difference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mainly changes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en-US" dirty="0"/>
                  <a:t>):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is </a:t>
                </a:r>
                <a:r>
                  <a:rPr lang="en-US" b="1" i="1" u="sng" dirty="0">
                    <a:solidFill>
                      <a:srgbClr val="FF0000"/>
                    </a:solidFill>
                  </a:rPr>
                  <a:t>changed</a:t>
                </a:r>
                <a:r>
                  <a:rPr lang="en-US" b="1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is  </a:t>
                </a:r>
                <a:r>
                  <a:rPr lang="en-US" b="1" i="1" u="sng" dirty="0">
                    <a:solidFill>
                      <a:srgbClr val="FF0000"/>
                    </a:solidFill>
                  </a:rPr>
                  <a:t>disappeared</a:t>
                </a:r>
                <a:r>
                  <a:rPr lang="en-US" b="1" dirty="0"/>
                  <a:t> 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ym typeface="Wingdings" pitchFamily="2" charset="2"/>
                  </a:rPr>
                  <a:t></a:t>
                </a:r>
                <a:endParaRPr lang="en-US" b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b="1" dirty="0"/>
                  <a:t>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 are </a:t>
                </a:r>
                <a:r>
                  <a:rPr lang="en-US" b="1" i="1" u="sng" dirty="0">
                    <a:solidFill>
                      <a:srgbClr val="C00000"/>
                    </a:solidFill>
                  </a:rPr>
                  <a:t>dependent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EB544-1C21-D58F-0663-7429C090E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2" t="-977" r="-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DCB64-BCC2-4F8D-E663-71AD27FE9B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Trustees Presentation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DB9EC-BA64-03DC-5FBE-B0986081D5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29</a:t>
            </a:fld>
            <a:endParaRPr lang="en-US" altLang="en-US" baseline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A09507-0FA6-76DF-6EA4-A2A0ED9F6C68}"/>
              </a:ext>
            </a:extLst>
          </p:cNvPr>
          <p:cNvCxnSpPr/>
          <p:nvPr/>
        </p:nvCxnSpPr>
        <p:spPr bwMode="auto">
          <a:xfrm>
            <a:off x="4343400" y="2743200"/>
            <a:ext cx="0" cy="533400"/>
          </a:xfrm>
          <a:prstGeom prst="straightConnector1">
            <a:avLst/>
          </a:prstGeom>
          <a:ln w="41275" cmpd="tri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149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C37B-45AD-A72E-80BA-0599C951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Dependency Relation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57664-D53C-2087-621C-B346E53F5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6402F-86CD-B0FC-B025-E7602D08B2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30</a:t>
            </a:fld>
            <a:endParaRPr lang="en-US" altLang="en-US" baseline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935484-E035-6076-F5C5-FBFBD0BAF6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3585" y="3141979"/>
                <a:ext cx="7339330" cy="57404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Dependency relation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C935484-E035-6076-F5C5-FBFBD0BA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5" y="3141979"/>
                <a:ext cx="7339330" cy="574041"/>
              </a:xfrm>
              <a:prstGeom prst="rect">
                <a:avLst/>
              </a:prstGeom>
              <a:blipFill>
                <a:blip r:embed="rId2"/>
                <a:stretch>
                  <a:fillRect l="-1209" t="-652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letter&#10;&#10;Description automatically generated">
            <a:extLst>
              <a:ext uri="{FF2B5EF4-FFF2-40B4-BE49-F238E27FC236}">
                <a16:creationId xmlns:a16="http://schemas.microsoft.com/office/drawing/2014/main" id="{23C42488-601B-2E37-B783-D86CC2F6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85" y="1468192"/>
            <a:ext cx="5657215" cy="1428035"/>
          </a:xfrm>
          <a:prstGeom prst="rect">
            <a:avLst/>
          </a:prstGeom>
        </p:spPr>
      </p:pic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F546903-1EF3-B82E-DA92-B1B5847A2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446" y="3850137"/>
            <a:ext cx="9144000" cy="153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06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C7D3-F7EB-012E-2B75-2275D3BA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Quantity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8648E9-E966-0728-0BE3-28A0D12B95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 :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ℕ</m:t>
                    </m:r>
                  </m:oMath>
                </a14:m>
                <a:r>
                  <a:rPr lang="en-US" dirty="0"/>
                  <a:t> for the labeled variables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Input:  an initial trace:</a:t>
                </a:r>
                <a:r>
                  <a:rPr lang="en-US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857250" lvl="1" indent="-457200" algn="ctr">
                  <a:buFont typeface="+mj-lt"/>
                  <a:buAutoNum type="arabicPeriod"/>
                </a:pPr>
                <a:r>
                  <a:rPr lang="en-US" b="1" dirty="0"/>
                  <a:t>execute program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and obtain an execution trace</a:t>
                </a:r>
                <a:r>
                  <a:rPr lang="en-US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𝝉</m:t>
                    </m:r>
                  </m:oMath>
                </a14:m>
                <a:endParaRPr lang="en-US" dirty="0"/>
              </a:p>
              <a:p>
                <a:pPr marL="857250" lvl="1" indent="-457200" algn="ctr">
                  <a:buFont typeface="+mj-lt"/>
                  <a:buAutoNum type="arabicPeriod"/>
                </a:pPr>
                <a:endParaRPr lang="en-US" dirty="0"/>
              </a:p>
              <a:p>
                <a:pPr marL="857250" lvl="1" indent="-457200" algn="ctr">
                  <a:buFont typeface="+mj-lt"/>
                  <a:buAutoNum type="arabicPeriod"/>
                </a:pPr>
                <a:endParaRPr lang="en-US" dirty="0"/>
              </a:p>
              <a:p>
                <a:pPr marL="857250" lvl="1" indent="-457200" algn="ctr">
                  <a:buFont typeface="+mj-lt"/>
                  <a:buAutoNum type="arabicPeriod"/>
                </a:pPr>
                <a:r>
                  <a:rPr lang="en-US" dirty="0"/>
                  <a:t>count the appearance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𝝉</m:t>
                    </m:r>
                  </m:oMath>
                </a14:m>
                <a:r>
                  <a:rPr lang="en-US" dirty="0"/>
                  <a:t>  :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𝒏</m:t>
                    </m:r>
                  </m:oMath>
                </a14:m>
                <a:endParaRPr lang="en-US" dirty="0"/>
              </a:p>
              <a:p>
                <a:pPr marL="400050" lvl="1" indent="0" algn="ctr">
                  <a:buNone/>
                </a:pPr>
                <a:endParaRPr lang="en-US" dirty="0"/>
              </a:p>
              <a:p>
                <a:pPr marL="400050" lvl="1" indent="0" algn="ctr">
                  <a:buNone/>
                </a:pPr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𝒏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8648E9-E966-0728-0BE3-28A0D12B9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2" t="-1303" b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4A48C-324C-0745-EA24-05A7B7E013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44E3B-BD4B-5E70-BBF1-2CC8D30A98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31</a:t>
            </a:fld>
            <a:endParaRPr lang="en-US" altLang="en-US" baseline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681134-2CC6-78FC-7A1A-16BF6600F978}"/>
              </a:ext>
            </a:extLst>
          </p:cNvPr>
          <p:cNvCxnSpPr/>
          <p:nvPr/>
        </p:nvCxnSpPr>
        <p:spPr bwMode="auto">
          <a:xfrm>
            <a:off x="4713249" y="3581400"/>
            <a:ext cx="0" cy="533400"/>
          </a:xfrm>
          <a:prstGeom prst="straightConnector1">
            <a:avLst/>
          </a:prstGeom>
          <a:ln w="41275" cmpd="tri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78269F-D98B-72A7-397F-C9E78A551B9D}"/>
              </a:ext>
            </a:extLst>
          </p:cNvPr>
          <p:cNvCxnSpPr/>
          <p:nvPr/>
        </p:nvCxnSpPr>
        <p:spPr bwMode="auto">
          <a:xfrm>
            <a:off x="4738079" y="4495800"/>
            <a:ext cx="0" cy="533400"/>
          </a:xfrm>
          <a:prstGeom prst="straightConnector1">
            <a:avLst/>
          </a:prstGeom>
          <a:ln w="41275" cmpd="tri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8140A7-8F04-5045-E17E-F019332BCF1B}"/>
              </a:ext>
            </a:extLst>
          </p:cNvPr>
          <p:cNvCxnSpPr/>
          <p:nvPr/>
        </p:nvCxnSpPr>
        <p:spPr bwMode="auto">
          <a:xfrm>
            <a:off x="4705815" y="2667000"/>
            <a:ext cx="0" cy="533400"/>
          </a:xfrm>
          <a:prstGeom prst="straightConnector1">
            <a:avLst/>
          </a:prstGeom>
          <a:ln w="41275" cmpd="tri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97DB20B-D4D1-9FCD-0A29-CA67B9DEC561}"/>
                  </a:ext>
                </a:extLst>
              </p:cNvPr>
              <p:cNvSpPr txBox="1"/>
              <p:nvPr/>
            </p:nvSpPr>
            <p:spPr>
              <a:xfrm>
                <a:off x="4762240" y="2675919"/>
                <a:ext cx="5333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97DB20B-D4D1-9FCD-0A29-CA67B9DEC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240" y="2675919"/>
                <a:ext cx="533389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FFD2FD-510A-9856-E65D-33C910C58CD6}"/>
                  </a:ext>
                </a:extLst>
              </p:cNvPr>
              <p:cNvSpPr txBox="1"/>
              <p:nvPr/>
            </p:nvSpPr>
            <p:spPr>
              <a:xfrm>
                <a:off x="4857354" y="3576935"/>
                <a:ext cx="343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FFD2FD-510A-9856-E65D-33C910C58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54" y="3576935"/>
                <a:ext cx="3431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BCE6FF-80DA-D38B-3E47-487A8427D6B9}"/>
                  </a:ext>
                </a:extLst>
              </p:cNvPr>
              <p:cNvSpPr txBox="1"/>
              <p:nvPr/>
            </p:nvSpPr>
            <p:spPr>
              <a:xfrm>
                <a:off x="4857354" y="4495800"/>
                <a:ext cx="3431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BCE6FF-80DA-D38B-3E47-487A8427D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54" y="4495800"/>
                <a:ext cx="343160" cy="461665"/>
              </a:xfrm>
              <a:prstGeom prst="rect">
                <a:avLst/>
              </a:prstGeom>
              <a:blipFill>
                <a:blip r:embed="rId5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98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ACC37B-45AD-A72E-80BA-0599C95119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  - Dependency Quantity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for example)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ACC37B-45AD-A72E-80BA-0599C95119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82" t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57664-D53C-2087-621C-B346E53F5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6402F-86CD-B0FC-B025-E7602D08B2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32</a:t>
            </a:fld>
            <a:endParaRPr lang="en-US" altLang="en-US" baseline="0"/>
          </a:p>
        </p:txBody>
      </p:sp>
      <p:pic>
        <p:nvPicPr>
          <p:cNvPr id="9" name="Picture 8" descr="A picture containing letter&#10;&#10;Description automatically generated">
            <a:extLst>
              <a:ext uri="{FF2B5EF4-FFF2-40B4-BE49-F238E27FC236}">
                <a16:creationId xmlns:a16="http://schemas.microsoft.com/office/drawing/2014/main" id="{23C42488-601B-2E37-B783-D86CC2F6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85" y="1468192"/>
            <a:ext cx="5657215" cy="14280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35F709F-20A5-124F-DA0B-54F240657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946356"/>
                <a:ext cx="4373530" cy="135551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one initial trace: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2, •)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1,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2</a:t>
                </a: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35F709F-20A5-124F-DA0B-54F240657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46356"/>
                <a:ext cx="4373530" cy="1355518"/>
              </a:xfrm>
              <a:prstGeom prst="rect">
                <a:avLst/>
              </a:prstGeom>
              <a:blipFill>
                <a:blip r:embed="rId4"/>
                <a:stretch>
                  <a:fillRect l="-1159" t="-2778" r="-580" b="-1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AD7DA8F-C8E0-DE6C-9353-CD40161D20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63858" y="2946356"/>
                <a:ext cx="3446742" cy="135551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675B4"/>
                  </a:buClr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arbitrary initial trace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1,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max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(0,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𝝉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))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AD7DA8F-C8E0-DE6C-9353-CD40161D2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858" y="2946356"/>
                <a:ext cx="3446742" cy="1355516"/>
              </a:xfrm>
              <a:prstGeom prst="rect">
                <a:avLst/>
              </a:prstGeom>
              <a:blipFill>
                <a:blip r:embed="rId5"/>
                <a:stretch>
                  <a:fillRect l="-2930" t="-2778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3998346A-24A3-BC8B-85B0-0BA6C7C3C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46" y="4524904"/>
            <a:ext cx="76073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903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Formalization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Step 1 - Construct Dependency Graph</a:t>
                </a:r>
              </a:p>
              <a:p>
                <a:endParaRPr lang="en-US" dirty="0"/>
              </a:p>
              <a:p>
                <a:r>
                  <a:rPr lang="en-US" dirty="0"/>
                  <a:t>Vertex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:r>
                  <a:rPr lang="en-US" sz="2000" dirty="0"/>
                  <a:t>labelled variables in c</a:t>
                </a:r>
              </a:p>
              <a:p>
                <a:r>
                  <a:rPr lang="en-US" dirty="0"/>
                  <a:t>Edge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</a:t>
                </a:r>
                <a:r>
                  <a:rPr lang="en-US" sz="2000" b="1" i="1" dirty="0"/>
                  <a:t>dependency-relation </a:t>
                </a:r>
                <a:r>
                  <a:rPr lang="en-US" sz="2000" dirty="0"/>
                  <a:t>for pair of labeled variables </a:t>
                </a:r>
                <a:endParaRPr lang="en-US" dirty="0"/>
              </a:p>
              <a:p>
                <a:r>
                  <a:rPr lang="en-US" dirty="0"/>
                  <a:t>Weight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</a:t>
                </a:r>
                <a:r>
                  <a:rPr lang="en-US" sz="2000" b="1" i="1" dirty="0"/>
                  <a:t>dependency-quantity </a:t>
                </a:r>
                <a:r>
                  <a:rPr lang="en-US" sz="2000" dirty="0"/>
                  <a:t>for each labeled variable</a:t>
                </a:r>
              </a:p>
              <a:p>
                <a:r>
                  <a:rPr lang="en-US" dirty="0"/>
                  <a:t>Query Annotation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:r>
                  <a:rPr lang="en-US" sz="2000" dirty="0"/>
                  <a:t>labeled variables assigned by </a:t>
                </a:r>
                <a:r>
                  <a:rPr lang="en-US" sz="2000" b="1" i="1" dirty="0"/>
                  <a:t>query requests</a:t>
                </a:r>
                <a:r>
                  <a:rPr lang="en-US" sz="2000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2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33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67654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Dependency Graph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34</a:t>
            </a:fld>
            <a:endParaRPr lang="en-US" altLang="en-US" baseline="0"/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D9302622-DF8A-802A-55BB-9F0B12B5A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590800"/>
            <a:ext cx="2133600" cy="2007164"/>
          </a:xfrm>
          <a:prstGeom prst="rect">
            <a:avLst/>
          </a:prstGeom>
        </p:spPr>
      </p:pic>
      <p:pic>
        <p:nvPicPr>
          <p:cNvPr id="8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63DCCC88-CDC8-FBD3-211B-15EDBFFAB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47839" y="1828800"/>
            <a:ext cx="3825096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3945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Formalization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Step 2 - Adaptivity</a:t>
                </a:r>
              </a:p>
              <a:p>
                <a:endParaRPr lang="en-US" dirty="0"/>
              </a:p>
              <a:p>
                <a:r>
                  <a:rPr lang="en-US" dirty="0"/>
                  <a:t>Longest Finite Walk: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 :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ℕ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vertices sequence: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edge sequence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 # </m:t>
                    </m:r>
                    <m:d>
                      <m:dPr>
                        <m:begChr m:val="{"/>
                        <m:endChr m:val="|"/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k is smaller than the weight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2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749343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Formalization – Longest Finite Walk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36</a:t>
            </a:fld>
            <a:endParaRPr lang="en-US" altLang="en-US" baseline="0"/>
          </a:p>
        </p:txBody>
      </p:sp>
      <p:pic>
        <p:nvPicPr>
          <p:cNvPr id="3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1D3CC389-149B-A5D5-0954-7193A8E1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905000"/>
            <a:ext cx="3359150" cy="3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4550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Program Adaptivity Analysis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37</a:t>
            </a:fld>
            <a:endParaRPr lang="en-US" altLang="en-US" baseline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F7255C-F7CC-CFD8-7D62-1CD891937417}"/>
              </a:ext>
            </a:extLst>
          </p:cNvPr>
          <p:cNvSpPr txBox="1">
            <a:spLocks/>
          </p:cNvSpPr>
          <p:nvPr/>
        </p:nvSpPr>
        <p:spPr>
          <a:xfrm>
            <a:off x="609600" y="1828800"/>
            <a:ext cx="7924800" cy="3886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Dependency Relation Estimation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Data Dependency Quantity Estimation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Adaptivity Estimation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DA8BB-B571-0DE0-8DCA-E6B9EED7F8ED}"/>
              </a:ext>
            </a:extLst>
          </p:cNvPr>
          <p:cNvSpPr/>
          <p:nvPr/>
        </p:nvSpPr>
        <p:spPr bwMode="auto">
          <a:xfrm>
            <a:off x="609600" y="1600200"/>
            <a:ext cx="5867400" cy="1828800"/>
          </a:xfrm>
          <a:prstGeom prst="rect">
            <a:avLst/>
          </a:prstGeom>
          <a:noFill/>
          <a:ln w="317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Osaka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52ED6-BBFB-91DB-A48D-568D9BBE545E}"/>
              </a:ext>
            </a:extLst>
          </p:cNvPr>
          <p:cNvSpPr/>
          <p:nvPr/>
        </p:nvSpPr>
        <p:spPr bwMode="auto">
          <a:xfrm>
            <a:off x="609600" y="3657600"/>
            <a:ext cx="7391400" cy="762000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and Program Abstract Based 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3900197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7773-BFB7-2FD1-D6F3-F2C0A215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Step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0FE0C-0194-BC48-5C85-FCFDD3DB52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669A-C609-0475-180E-9915EC111C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384B206-7C0B-E642-860D-5AF48962FD50}" type="slidenum">
              <a:rPr lang="en-US" altLang="en-US" smtClean="0"/>
              <a:pPr>
                <a:defRPr/>
              </a:pPr>
              <a:t>38</a:t>
            </a:fld>
            <a:endParaRPr lang="en-US" altLang="en-US" baseline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F7255C-F7CC-CFD8-7D62-1CD891937417}"/>
              </a:ext>
            </a:extLst>
          </p:cNvPr>
          <p:cNvSpPr txBox="1">
            <a:spLocks/>
          </p:cNvSpPr>
          <p:nvPr/>
        </p:nvSpPr>
        <p:spPr>
          <a:xfrm>
            <a:off x="609600" y="1828800"/>
            <a:ext cx="7924800" cy="3886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 - Abstract Control Flow Graph</a:t>
            </a:r>
          </a:p>
          <a:p>
            <a:endParaRPr lang="en-US" dirty="0"/>
          </a:p>
        </p:txBody>
      </p:sp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3D6496A2-493D-AA02-F9FB-62F7AE1FF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24200"/>
            <a:ext cx="1714500" cy="1612900"/>
          </a:xfrm>
          <a:prstGeom prst="rect">
            <a:avLst/>
          </a:prstGeom>
        </p:spPr>
      </p:pic>
      <p:pic>
        <p:nvPicPr>
          <p:cNvPr id="11" name="Picture 10" descr="Diagram, schematic&#10;&#10;Description automatically generated">
            <a:extLst>
              <a:ext uri="{FF2B5EF4-FFF2-40B4-BE49-F238E27FC236}">
                <a16:creationId xmlns:a16="http://schemas.microsoft.com/office/drawing/2014/main" id="{FBB99FA7-78B0-7547-E454-C1E34442E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2584450"/>
            <a:ext cx="33147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32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A028-9F71-C717-C272-1C378591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Dependency Relation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EB544-1C21-D58F-0663-7429C090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Reaching Definition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DCB64-BCC2-4F8D-E663-71AD27FE9B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DB9EC-BA64-03DC-5FBE-B0986081D5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39</a:t>
            </a:fld>
            <a:endParaRPr lang="en-US" altLang="en-US" baseline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2622E5A-D591-5859-DD53-69A30EC92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590800"/>
            <a:ext cx="73660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84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C7D3-F7EB-012E-2B75-2275D3BA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Quantity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48E9-E966-0728-0BE3-28A0D12B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Reachability Bound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4A48C-324C-0745-EA24-05A7B7E013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44E3B-BD4B-5E70-BBF1-2CC8D30A98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40</a:t>
            </a:fld>
            <a:endParaRPr lang="en-US" altLang="en-US" baseline="0"/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DD1689A4-9D93-BABB-66A0-A386E27A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24200"/>
            <a:ext cx="1714500" cy="1612900"/>
          </a:xfrm>
          <a:prstGeom prst="rect">
            <a:avLst/>
          </a:prstGeom>
        </p:spPr>
      </p:pic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778B537D-9EC8-68D2-F48C-0E891063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35250"/>
            <a:ext cx="38862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38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Estimation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Step 1 - Dependency Graph Estimation</a:t>
                </a:r>
              </a:p>
              <a:p>
                <a:endParaRPr lang="en-US" dirty="0"/>
              </a:p>
              <a:p>
                <a:r>
                  <a:rPr lang="en-US" dirty="0"/>
                  <a:t>Vertices: program variables with labels</a:t>
                </a:r>
              </a:p>
              <a:p>
                <a:r>
                  <a:rPr lang="en-US" dirty="0"/>
                  <a:t>Edge : estimate data dependency relations</a:t>
                </a:r>
              </a:p>
              <a:p>
                <a:r>
                  <a:rPr lang="en-US" dirty="0"/>
                  <a:t>Weights : Reachability-Bound Results</a:t>
                </a:r>
              </a:p>
              <a:p>
                <a:r>
                  <a:rPr lang="en-US" dirty="0"/>
                  <a:t>Query Annotations: same as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2 – Longest Finite Walk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A2AF6-CA6A-9ABE-7515-CDBC4D4EE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2" t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41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874150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–Dependency Graph Estimation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42</a:t>
            </a:fld>
            <a:endParaRPr lang="en-US" altLang="en-US" baseline="0"/>
          </a:p>
        </p:txBody>
      </p:sp>
      <p:pic>
        <p:nvPicPr>
          <p:cNvPr id="6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7A71562C-AFCA-E3C1-A46D-F0868912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5796" y="1828800"/>
            <a:ext cx="3572407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717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Adaptivity Estimation – Longest Finite Walk Estimation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43</a:t>
            </a:fld>
            <a:endParaRPr lang="en-US" altLang="en-US" baseline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6E49EFB8-D778-9D33-F140-3E4F79169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2743200" y="1905000"/>
            <a:ext cx="3691204" cy="37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842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B058-E2BC-A16E-D9AA-44FF9C0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on Adaptivity Definition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3981-DAEA-F054-E926-64328F42C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A3F4-25D4-3602-6D3B-F5299D3CB5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44</a:t>
            </a:fld>
            <a:endParaRPr lang="en-US" altLang="en-US" baseline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97213-6FC3-8C4D-471F-1E1379283B85}"/>
              </a:ext>
            </a:extLst>
          </p:cNvPr>
          <p:cNvSpPr txBox="1">
            <a:spLocks/>
          </p:cNvSpPr>
          <p:nvPr/>
        </p:nvSpPr>
        <p:spPr bwMode="auto">
          <a:xfrm>
            <a:off x="609600" y="1600200"/>
            <a:ext cx="7924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 weight on every transition path: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A4BDDDCB-65A2-58FE-E1B5-402BC7D7D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550" y="2133600"/>
            <a:ext cx="5505450" cy="3745511"/>
          </a:xfrm>
        </p:spPr>
      </p:pic>
    </p:spTree>
    <p:extLst>
      <p:ext uri="{BB962C8B-B14F-4D97-AF65-F5344CB8AC3E}">
        <p14:creationId xmlns:p14="http://schemas.microsoft.com/office/powerpoint/2010/main" val="3856217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C7D3-F7EB-012E-2B75-2275D3BA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in 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48E9-E966-0728-0BE3-28A0D12B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Sensitive Reachability Bound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4A48C-324C-0745-EA24-05A7B7E013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Program Analysis Framework for Adaptive Data Analysis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44E3B-BD4B-5E70-BBF1-2CC8D30A98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45</a:t>
            </a:fld>
            <a:endParaRPr lang="en-US" altLang="en-US" baseline="0"/>
          </a:p>
        </p:txBody>
      </p:sp>
      <p:pic>
        <p:nvPicPr>
          <p:cNvPr id="12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4FFE9CCA-76F6-E7CD-2B5C-4EA11420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3009900"/>
            <a:ext cx="2463800" cy="1524000"/>
          </a:xfrm>
          <a:prstGeom prst="rect">
            <a:avLst/>
          </a:prstGeom>
        </p:spPr>
      </p:pic>
      <p:pic>
        <p:nvPicPr>
          <p:cNvPr id="14" name="Picture 13" descr="Diagram, schematic&#10;&#10;Description automatically generated">
            <a:extLst>
              <a:ext uri="{FF2B5EF4-FFF2-40B4-BE49-F238E27FC236}">
                <a16:creationId xmlns:a16="http://schemas.microsoft.com/office/drawing/2014/main" id="{A6505628-0639-AF4D-A74F-0A633CA12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450" y="2438400"/>
            <a:ext cx="47371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60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FF6A32-AFBC-2F75-E71A-D353EBA0C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Path-Sensitive Reachability-Bound Analysis (In Preparation)</a:t>
            </a:r>
          </a:p>
        </p:txBody>
      </p:sp>
    </p:spTree>
    <p:extLst>
      <p:ext uri="{BB962C8B-B14F-4D97-AF65-F5344CB8AC3E}">
        <p14:creationId xmlns:p14="http://schemas.microsoft.com/office/powerpoint/2010/main" val="40368904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47</a:t>
            </a:fld>
            <a:endParaRPr lang="en-US" altLang="en-US" baseline="0"/>
          </a:p>
        </p:txBody>
      </p:sp>
      <p:pic>
        <p:nvPicPr>
          <p:cNvPr id="8" name="Content Placeholder 7" descr="Text&#10;&#10;Description automatically generated">
            <a:extLst>
              <a:ext uri="{FF2B5EF4-FFF2-40B4-BE49-F238E27FC236}">
                <a16:creationId xmlns:a16="http://schemas.microsoft.com/office/drawing/2014/main" id="{CED9E195-1AF0-D207-F9A9-F0FE40A87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775" y="2253175"/>
            <a:ext cx="7679018" cy="2413000"/>
          </a:xfrm>
        </p:spPr>
      </p:pic>
    </p:spTree>
    <p:extLst>
      <p:ext uri="{BB962C8B-B14F-4D97-AF65-F5344CB8AC3E}">
        <p14:creationId xmlns:p14="http://schemas.microsoft.com/office/powerpoint/2010/main" val="1336445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Reachability-Bound</a:t>
            </a: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A3AA64C4-D0A3-F265-783F-E33CE3673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725" y="1914538"/>
            <a:ext cx="8210550" cy="151446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48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412546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Algorithm Illustration through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2D9F-8FC0-8C72-5617-8C69B9E65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8210550" cy="3886200"/>
          </a:xfrm>
        </p:spPr>
        <p:txBody>
          <a:bodyPr/>
          <a:lstStyle/>
          <a:p>
            <a:r>
              <a:rPr lang="en-US" dirty="0"/>
              <a:t>Generate An Abstract Control Flow Graph</a:t>
            </a:r>
          </a:p>
          <a:p>
            <a:r>
              <a:rPr lang="en-US" dirty="0"/>
              <a:t>Refine the Program</a:t>
            </a:r>
          </a:p>
          <a:p>
            <a:r>
              <a:rPr lang="en-US" dirty="0"/>
              <a:t>Compute the Bound locally for transitions</a:t>
            </a:r>
          </a:p>
          <a:p>
            <a:r>
              <a:rPr lang="en-US" dirty="0"/>
              <a:t>Compute the Bound globally for transitions</a:t>
            </a:r>
          </a:p>
          <a:p>
            <a:r>
              <a:rPr lang="en-US" dirty="0"/>
              <a:t>Compute the Reachability-Bound for each control location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49</a:t>
            </a:fld>
            <a:endParaRPr lang="en-US" altLang="en-US" baseline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1B671905-083D-BDE3-2AF4-7710EB223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343400"/>
            <a:ext cx="5575300" cy="157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44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Abstract Control Flow Graph for </a:t>
            </a:r>
            <a:r>
              <a:rPr lang="en-US" dirty="0" err="1"/>
              <a:t>whileOdd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50</a:t>
            </a:fld>
            <a:endParaRPr lang="en-US" altLang="en-US" baseline="0"/>
          </a:p>
        </p:txBody>
      </p:sp>
      <p:pic>
        <p:nvPicPr>
          <p:cNvPr id="10" name="Content Placeholder 9" descr="Diagram&#10;&#10;Description automatically generated">
            <a:extLst>
              <a:ext uri="{FF2B5EF4-FFF2-40B4-BE49-F238E27FC236}">
                <a16:creationId xmlns:a16="http://schemas.microsoft.com/office/drawing/2014/main" id="{503F1E39-7278-E5F9-4CA4-8F2C6760C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7228" y="2514600"/>
            <a:ext cx="4149543" cy="22542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D4200F-E5DF-0CD0-2F44-CC3EBB71CE0E}"/>
              </a:ext>
            </a:extLst>
          </p:cNvPr>
          <p:cNvSpPr txBox="1"/>
          <p:nvPr/>
        </p:nvSpPr>
        <p:spPr>
          <a:xfrm>
            <a:off x="1674055" y="631639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8E081-29E6-7ABF-F5B7-05BBD9E5F2FE}"/>
              </a:ext>
            </a:extLst>
          </p:cNvPr>
          <p:cNvSpPr txBox="1"/>
          <p:nvPr/>
        </p:nvSpPr>
        <p:spPr>
          <a:xfrm>
            <a:off x="1111348" y="628825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57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Program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51</a:t>
            </a:fld>
            <a:endParaRPr lang="en-US" altLang="en-US" baseline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8AEFFA-011D-16C3-3058-BA1944C5B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Transition Paths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Refined Program</a:t>
            </a:r>
          </a:p>
        </p:txBody>
      </p:sp>
      <p:pic>
        <p:nvPicPr>
          <p:cNvPr id="16" name="Picture 1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B203BBE-F6B9-62E2-7DEE-00030AB3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564114"/>
            <a:ext cx="59436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60C5E-75EA-94DD-953B-B174390C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4285607"/>
            <a:ext cx="6032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08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Local Bounds for Transition Paths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52</a:t>
            </a:fld>
            <a:endParaRPr lang="en-US" altLang="en-US" baseline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D644109-801F-5E9B-9B21-3117AB5E1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750" y="4724400"/>
            <a:ext cx="6794500" cy="749300"/>
          </a:xfrm>
        </p:spPr>
      </p:pic>
      <p:pic>
        <p:nvPicPr>
          <p:cNvPr id="18" name="Picture 17" descr="Diagram&#10;&#10;Description automatically generated">
            <a:extLst>
              <a:ext uri="{FF2B5EF4-FFF2-40B4-BE49-F238E27FC236}">
                <a16:creationId xmlns:a16="http://schemas.microsoft.com/office/drawing/2014/main" id="{F5EC3BF2-D2B3-11E2-D6D0-063623685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11300"/>
            <a:ext cx="3670300" cy="1993900"/>
          </a:xfrm>
          <a:prstGeom prst="rect">
            <a:avLst/>
          </a:prstGeom>
        </p:spPr>
      </p:pic>
      <p:pic>
        <p:nvPicPr>
          <p:cNvPr id="19" name="Picture 1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3ABC1CA-0DD0-883D-A9F4-A2168731A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670300"/>
            <a:ext cx="59436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683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Global Bounds for Transition Paths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53</a:t>
            </a:fld>
            <a:endParaRPr lang="en-US" altLang="en-US" baseline="0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F825570F-A3AA-9992-0888-FDC214627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511300"/>
            <a:ext cx="3670300" cy="1993900"/>
          </a:xfrm>
          <a:prstGeom prst="rect">
            <a:avLst/>
          </a:prstGeom>
        </p:spPr>
      </p:pic>
      <p:pic>
        <p:nvPicPr>
          <p:cNvPr id="13" name="Picture 1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C4D7C3B-A784-0138-46D3-CEC0A9F7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670300"/>
            <a:ext cx="5943600" cy="812800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601BD92-4906-CD76-4FEE-4BCCD2FD9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69950" y="4851400"/>
            <a:ext cx="7404100" cy="469900"/>
          </a:xfrm>
        </p:spPr>
      </p:pic>
    </p:spTree>
    <p:extLst>
      <p:ext uri="{BB962C8B-B14F-4D97-AF65-F5344CB8AC3E}">
        <p14:creationId xmlns:p14="http://schemas.microsoft.com/office/powerpoint/2010/main" val="4241170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028-EFD5-B007-FCA3-D7F06273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Reachability-Bound for Each Control Location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50374-69E4-C277-378F-808CB05500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C1D9-59BF-4334-A9EF-81E5286C58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54</a:t>
            </a:fld>
            <a:endParaRPr lang="en-US" altLang="en-US" baseline="0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25742A6F-ED3B-1ADD-9D90-C2C0B3F6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2178050"/>
            <a:ext cx="2273300" cy="190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1CE87E-410F-EA68-AE97-7B5B5F3CE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724400"/>
            <a:ext cx="6096000" cy="495300"/>
          </a:xfrm>
          <a:prstGeom prst="rect">
            <a:avLst/>
          </a:prstGeom>
        </p:spPr>
      </p:pic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C699E4C5-13D2-2F0C-319F-F08E10E1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089150"/>
            <a:ext cx="36703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86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C7D3-F7EB-012E-2B75-2275D3BA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 Extension and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48E9-E966-0728-0BE3-28A0D12B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Sensitive Reachability Bound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4A48C-324C-0745-EA24-05A7B7E013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Path-Sensitive Reachability-Bound Analysis (In Preparation)</a:t>
            </a:r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44E3B-BD4B-5E70-BBF1-2CC8D30A98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2/3/08  </a:t>
            </a:r>
            <a:fld id="{D5FEDAD5-5C80-A14D-A308-2080B477B863}" type="slidenum">
              <a:rPr lang="en-US" altLang="en-US" smtClean="0"/>
              <a:pPr>
                <a:defRPr/>
              </a:pPr>
              <a:t>55</a:t>
            </a:fld>
            <a:endParaRPr lang="en-US" altLang="en-US" baseline="0"/>
          </a:p>
        </p:txBody>
      </p:sp>
      <p:pic>
        <p:nvPicPr>
          <p:cNvPr id="12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4FFE9CCA-76F6-E7CD-2B5C-4EA11420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3009900"/>
            <a:ext cx="2463800" cy="1524000"/>
          </a:xfrm>
          <a:prstGeom prst="rect">
            <a:avLst/>
          </a:prstGeom>
        </p:spPr>
      </p:pic>
      <p:pic>
        <p:nvPicPr>
          <p:cNvPr id="14" name="Picture 13" descr="Diagram, schematic&#10;&#10;Description automatically generated">
            <a:extLst>
              <a:ext uri="{FF2B5EF4-FFF2-40B4-BE49-F238E27FC236}">
                <a16:creationId xmlns:a16="http://schemas.microsoft.com/office/drawing/2014/main" id="{A6505628-0639-AF4D-A74F-0A633CA12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450" y="2438400"/>
            <a:ext cx="47371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15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23F046-9A98-4F6D-A1A3-BFAB67136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Status and Plan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B07166-2215-1CF7-60E8-D9B500726D69}"/>
              </a:ext>
            </a:extLst>
          </p:cNvPr>
          <p:cNvSpPr txBox="1">
            <a:spLocks/>
          </p:cNvSpPr>
          <p:nvPr/>
        </p:nvSpPr>
        <p:spPr bwMode="auto">
          <a:xfrm>
            <a:off x="609600" y="3048000"/>
            <a:ext cx="7924800" cy="274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charset="2"/>
              <a:buNone/>
              <a:defRPr sz="1800" kern="1200">
                <a:solidFill>
                  <a:srgbClr val="CCCC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Status:</a:t>
            </a:r>
          </a:p>
          <a:p>
            <a:pPr lvl="1"/>
            <a:r>
              <a:rPr lang="en-US" sz="1600" dirty="0"/>
              <a:t>Part I implemented and submitted a conference paper.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Plan: </a:t>
            </a:r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en-US" sz="1600" dirty="0"/>
              <a:t>November 05, 2022: Submit the paper Path Sensitive Reachability Bound Analysis to PLDI 2023. </a:t>
            </a:r>
          </a:p>
          <a:p>
            <a:pPr lvl="1"/>
            <a:r>
              <a:rPr lang="en-US" sz="1600" dirty="0"/>
              <a:t>• February 4, 2023: Finish the thesis and submit to GRS office, to be approved by the Associate Dean. Submit the Intent to Graduate form. </a:t>
            </a:r>
          </a:p>
          <a:p>
            <a:pPr lvl="1"/>
            <a:r>
              <a:rPr lang="en-US" sz="1600" dirty="0"/>
              <a:t>• April 4, 2023: Final Oral Exam. </a:t>
            </a:r>
          </a:p>
        </p:txBody>
      </p:sp>
    </p:spTree>
    <p:extLst>
      <p:ext uri="{BB962C8B-B14F-4D97-AF65-F5344CB8AC3E}">
        <p14:creationId xmlns:p14="http://schemas.microsoft.com/office/powerpoint/2010/main" val="14710986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"/>
      </a:majorFont>
      <a:minorFont>
        <a:latin typeface="Arial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Osak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Osak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4558</TotalTime>
  <Words>2010</Words>
  <Application>Microsoft Macintosh PowerPoint</Application>
  <PresentationFormat>On-screen Show (4:3)</PresentationFormat>
  <Paragraphs>462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 Bold</vt:lpstr>
      <vt:lpstr>Arial</vt:lpstr>
      <vt:lpstr>Cambria Math</vt:lpstr>
      <vt:lpstr>Courier</vt:lpstr>
      <vt:lpstr>Times</vt:lpstr>
      <vt:lpstr>Times New Roman</vt:lpstr>
      <vt:lpstr>Wingdings</vt:lpstr>
      <vt:lpstr>Blank Presentation</vt:lpstr>
      <vt:lpstr>Program Analysis for Quantitative Reachability Properties </vt:lpstr>
      <vt:lpstr>Outline</vt:lpstr>
      <vt:lpstr>Usefulness of Analyzing Program Properties</vt:lpstr>
      <vt:lpstr>Quantitative Reachability Properties</vt:lpstr>
      <vt:lpstr>Challenges : Technique Limitations</vt:lpstr>
      <vt:lpstr>Proposed the Methodology: Combination Analysis</vt:lpstr>
      <vt:lpstr>Two Interested Quantitative Reachability Properties</vt:lpstr>
      <vt:lpstr>PART I : Program Analysis for Adaptive Data Analysis (In Improvement)</vt:lpstr>
      <vt:lpstr>Adaptive Data Analysis </vt:lpstr>
      <vt:lpstr>Adaptive Data Analysis – Simple Example </vt:lpstr>
      <vt:lpstr>Adaptive Data Analysis – non-Trivial Example</vt:lpstr>
      <vt:lpstr>Generalization Error / Overfitting</vt:lpstr>
      <vt:lpstr>Mechanisms for Reducing Generalization Error</vt:lpstr>
      <vt:lpstr>Theoretical Guarantee on Generalization Errors</vt:lpstr>
      <vt:lpstr>Theoretical Guarantee on Generalization Errors in Adaptive Data Analysis</vt:lpstr>
      <vt:lpstr>Motivation for Analyzing the Adaptive Data Analysis Program</vt:lpstr>
      <vt:lpstr>Motivation For Analysis Program’s Adaptivity Rounds</vt:lpstr>
      <vt:lpstr>Motivation For Analysis Program’s Adaptivity Rounds</vt:lpstr>
      <vt:lpstr>Motivation For Analysis Adaptivity Quantity</vt:lpstr>
      <vt:lpstr>Research Challenges &amp;. Goals</vt:lpstr>
      <vt:lpstr>Research Challenges &amp;. Goals</vt:lpstr>
      <vt:lpstr>Adaptivity Analysis Framework</vt:lpstr>
      <vt:lpstr>Query-While Language Design</vt:lpstr>
      <vt:lpstr>Query-While Language Design – Query Expression</vt:lpstr>
      <vt:lpstr>Query-While Language Design – Trace-based Semantics</vt:lpstr>
      <vt:lpstr>Query-While Language Design – Trace-based Semantics</vt:lpstr>
      <vt:lpstr>Example - Evaluation Trace</vt:lpstr>
      <vt:lpstr>Adaptivity Formalization</vt:lpstr>
      <vt:lpstr>Data Dependency Relation Analysis</vt:lpstr>
      <vt:lpstr>Example  - Dependency Relation</vt:lpstr>
      <vt:lpstr>Dependency Quantity</vt:lpstr>
      <vt:lpstr>Example  - Dependency Quantity (a^0 and x^3 for example) </vt:lpstr>
      <vt:lpstr>Adaptivity Formalization </vt:lpstr>
      <vt:lpstr>Example – Dependency Graph </vt:lpstr>
      <vt:lpstr>Adaptivity Formalization </vt:lpstr>
      <vt:lpstr>Adaptivity Formalization – Longest Finite Walk </vt:lpstr>
      <vt:lpstr>Static Program Adaptivity Analysis</vt:lpstr>
      <vt:lpstr>Base Step</vt:lpstr>
      <vt:lpstr>Data Dependency Relation Estimation</vt:lpstr>
      <vt:lpstr>Dependency Quantity Estimation</vt:lpstr>
      <vt:lpstr>Adaptivity Estimation </vt:lpstr>
      <vt:lpstr>Example –Dependency Graph Estimation</vt:lpstr>
      <vt:lpstr>Adaptivity Estimation – Longest Finite Walk Estimation</vt:lpstr>
      <vt:lpstr>Improvement on Adaptivity Definition</vt:lpstr>
      <vt:lpstr>Improvement in Static Analysis</vt:lpstr>
      <vt:lpstr>Path-Sensitive Reachability-Bound Analysis (In Preparation)</vt:lpstr>
      <vt:lpstr>Language Model</vt:lpstr>
      <vt:lpstr>Reachability-Bound</vt:lpstr>
      <vt:lpstr>Analysis Algorithm Illustration through An Example</vt:lpstr>
      <vt:lpstr>The Abstract Control Flow Graph for whileOdd</vt:lpstr>
      <vt:lpstr>Refined Program</vt:lpstr>
      <vt:lpstr>The Local Bounds for Transition Paths</vt:lpstr>
      <vt:lpstr>The Global Bounds for Transition Paths</vt:lpstr>
      <vt:lpstr>The Reachability-Bound for Each Control Location</vt:lpstr>
      <vt:lpstr>Static Analysis Extension and Improvement</vt:lpstr>
      <vt:lpstr>Status and Plan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Liu jiawen</cp:lastModifiedBy>
  <cp:revision>597</cp:revision>
  <cp:lastPrinted>2018-05-31T15:51:35Z</cp:lastPrinted>
  <dcterms:created xsi:type="dcterms:W3CDTF">2008-01-28T19:49:47Z</dcterms:created>
  <dcterms:modified xsi:type="dcterms:W3CDTF">2022-09-16T19:26:46Z</dcterms:modified>
</cp:coreProperties>
</file>